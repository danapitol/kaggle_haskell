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nton Italics" charset="1" panose="00000500000000000000"/>
      <p:regular r:id="rId18"/>
    </p:embeddedFont>
    <p:embeddedFont>
      <p:font typeface="Open Sauce" charset="1" panose="00000500000000000000"/>
      <p:regular r:id="rId19"/>
    </p:embeddedFont>
    <p:embeddedFont>
      <p:font typeface="Open Sauce Bold" charset="1" panose="00000800000000000000"/>
      <p:regular r:id="rId20"/>
    </p:embeddedFont>
    <p:embeddedFont>
      <p:font typeface="Open Sauce Light" charset="1" panose="000004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6793741" y="3623929"/>
            <a:ext cx="11494259" cy="2591938"/>
            <a:chOff x="0" y="0"/>
            <a:chExt cx="3027295" cy="682650"/>
          </a:xfrm>
        </p:grpSpPr>
        <p:sp>
          <p:nvSpPr>
            <p:cNvPr name="Freeform 4" id="4"/>
            <p:cNvSpPr/>
            <p:nvPr/>
          </p:nvSpPr>
          <p:spPr>
            <a:xfrm flipH="false" flipV="false" rot="0">
              <a:off x="0" y="0"/>
              <a:ext cx="3027294" cy="682650"/>
            </a:xfrm>
            <a:custGeom>
              <a:avLst/>
              <a:gdLst/>
              <a:ahLst/>
              <a:cxnLst/>
              <a:rect r="r" b="b" t="t" l="l"/>
              <a:pathLst>
                <a:path h="682650" w="3027294">
                  <a:moveTo>
                    <a:pt x="0" y="0"/>
                  </a:moveTo>
                  <a:lnTo>
                    <a:pt x="3027294" y="0"/>
                  </a:lnTo>
                  <a:lnTo>
                    <a:pt x="3027294" y="682650"/>
                  </a:lnTo>
                  <a:lnTo>
                    <a:pt x="0" y="682650"/>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3027295" cy="711225"/>
            </a:xfrm>
            <a:prstGeom prst="rect">
              <a:avLst/>
            </a:prstGeom>
          </p:spPr>
          <p:txBody>
            <a:bodyPr anchor="ctr" rtlCol="false" tIns="50800" lIns="50800" bIns="50800" rIns="50800"/>
            <a:lstStyle/>
            <a:p>
              <a:pPr algn="ctr">
                <a:lnSpc>
                  <a:spcPts val="1960"/>
                </a:lnSpc>
              </a:pPr>
            </a:p>
          </p:txBody>
        </p:sp>
      </p:grpSp>
      <p:sp>
        <p:nvSpPr>
          <p:cNvPr name="Freeform 6" id="6"/>
          <p:cNvSpPr/>
          <p:nvPr/>
        </p:nvSpPr>
        <p:spPr>
          <a:xfrm flipH="false" flipV="false" rot="0">
            <a:off x="1028700" y="1042193"/>
            <a:ext cx="392115" cy="392115"/>
          </a:xfrm>
          <a:custGeom>
            <a:avLst/>
            <a:gdLst/>
            <a:ahLst/>
            <a:cxnLst/>
            <a:rect r="r" b="b" t="t" l="l"/>
            <a:pathLst>
              <a:path h="392115" w="392115">
                <a:moveTo>
                  <a:pt x="0" y="0"/>
                </a:moveTo>
                <a:lnTo>
                  <a:pt x="392115" y="0"/>
                </a:lnTo>
                <a:lnTo>
                  <a:pt x="392115" y="392114"/>
                </a:lnTo>
                <a:lnTo>
                  <a:pt x="0" y="3921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028700" y="8570015"/>
            <a:ext cx="688285" cy="68828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528" t="0" r="-1528" b="0"/>
              </a:stretch>
            </a:blipFill>
          </p:spPr>
        </p:sp>
      </p:grpSp>
      <p:sp>
        <p:nvSpPr>
          <p:cNvPr name="TextBox 9" id="9"/>
          <p:cNvSpPr txBox="true"/>
          <p:nvPr/>
        </p:nvSpPr>
        <p:spPr>
          <a:xfrm rot="0">
            <a:off x="2510065" y="4025311"/>
            <a:ext cx="14025570" cy="2313048"/>
          </a:xfrm>
          <a:prstGeom prst="rect">
            <a:avLst/>
          </a:prstGeom>
        </p:spPr>
        <p:txBody>
          <a:bodyPr anchor="t" rtlCol="false" tIns="0" lIns="0" bIns="0" rIns="0">
            <a:spAutoFit/>
          </a:bodyPr>
          <a:lstStyle/>
          <a:p>
            <a:pPr algn="l">
              <a:lnSpc>
                <a:spcPts val="17133"/>
              </a:lnSpc>
            </a:pPr>
            <a:r>
              <a:rPr lang="en-US" sz="18035" i="true" spc="-721">
                <a:solidFill>
                  <a:srgbClr val="8AB2A6"/>
                </a:solidFill>
                <a:latin typeface="Anton Italics"/>
                <a:ea typeface="Anton Italics"/>
                <a:cs typeface="Anton Italics"/>
                <a:sym typeface="Anton Italics"/>
              </a:rPr>
              <a:t>DATASET KAGGLE</a:t>
            </a:r>
          </a:p>
        </p:txBody>
      </p:sp>
      <p:sp>
        <p:nvSpPr>
          <p:cNvPr name="TextBox 10" id="10"/>
          <p:cNvSpPr txBox="true"/>
          <p:nvPr/>
        </p:nvSpPr>
        <p:spPr>
          <a:xfrm rot="0">
            <a:off x="1608058" y="1028700"/>
            <a:ext cx="1376977" cy="419100"/>
          </a:xfrm>
          <a:prstGeom prst="rect">
            <a:avLst/>
          </a:prstGeom>
        </p:spPr>
        <p:txBody>
          <a:bodyPr anchor="t" rtlCol="false" tIns="0" lIns="0" bIns="0" rIns="0">
            <a:spAutoFit/>
          </a:bodyPr>
          <a:lstStyle/>
          <a:p>
            <a:pPr algn="l">
              <a:lnSpc>
                <a:spcPts val="1680"/>
              </a:lnSpc>
            </a:pPr>
            <a:r>
              <a:rPr lang="en-US" sz="1400" spc="-28">
                <a:solidFill>
                  <a:srgbClr val="FFFFFF"/>
                </a:solidFill>
                <a:latin typeface="Open Sauce"/>
                <a:ea typeface="Open Sauce"/>
                <a:cs typeface="Open Sauce"/>
                <a:sym typeface="Open Sauce"/>
              </a:rPr>
              <a:t>Iniversidad del Papaloapan</a:t>
            </a:r>
          </a:p>
        </p:txBody>
      </p:sp>
      <p:sp>
        <p:nvSpPr>
          <p:cNvPr name="TextBox 11" id="11"/>
          <p:cNvSpPr txBox="true"/>
          <p:nvPr/>
        </p:nvSpPr>
        <p:spPr>
          <a:xfrm rot="0">
            <a:off x="2510065" y="6450729"/>
            <a:ext cx="5919649" cy="627671"/>
          </a:xfrm>
          <a:prstGeom prst="rect">
            <a:avLst/>
          </a:prstGeom>
        </p:spPr>
        <p:txBody>
          <a:bodyPr anchor="t" rtlCol="false" tIns="0" lIns="0" bIns="0" rIns="0">
            <a:spAutoFit/>
          </a:bodyPr>
          <a:lstStyle/>
          <a:p>
            <a:pPr algn="l">
              <a:lnSpc>
                <a:spcPts val="4962"/>
              </a:lnSpc>
            </a:pPr>
            <a:r>
              <a:rPr lang="en-US" sz="4135" i="true" spc="-82">
                <a:solidFill>
                  <a:srgbClr val="FFFFFF"/>
                </a:solidFill>
                <a:latin typeface="Anton Italics"/>
                <a:ea typeface="Anton Italics"/>
                <a:cs typeface="Anton Italics"/>
                <a:sym typeface="Anton Italics"/>
              </a:rPr>
              <a:t>PROCESAMIENTO FUNCIONAL</a:t>
            </a:r>
          </a:p>
        </p:txBody>
      </p:sp>
      <p:sp>
        <p:nvSpPr>
          <p:cNvPr name="TextBox 12" id="12"/>
          <p:cNvSpPr txBox="true"/>
          <p:nvPr/>
        </p:nvSpPr>
        <p:spPr>
          <a:xfrm rot="0">
            <a:off x="1930707" y="8914158"/>
            <a:ext cx="1711863" cy="209550"/>
          </a:xfrm>
          <a:prstGeom prst="rect">
            <a:avLst/>
          </a:prstGeom>
        </p:spPr>
        <p:txBody>
          <a:bodyPr anchor="t" rtlCol="false" tIns="0" lIns="0" bIns="0" rIns="0">
            <a:spAutoFit/>
          </a:bodyPr>
          <a:lstStyle/>
          <a:p>
            <a:pPr algn="l">
              <a:lnSpc>
                <a:spcPts val="1680"/>
              </a:lnSpc>
            </a:pPr>
            <a:r>
              <a:rPr lang="en-US" sz="1400" spc="-28">
                <a:solidFill>
                  <a:srgbClr val="FFFFFF"/>
                </a:solidFill>
                <a:latin typeface="Open Sauce"/>
                <a:ea typeface="Open Sauce"/>
                <a:cs typeface="Open Sauce"/>
                <a:sym typeface="Open Sauce"/>
              </a:rPr>
              <a:t>Dana Pitol</a:t>
            </a:r>
          </a:p>
        </p:txBody>
      </p:sp>
      <p:sp>
        <p:nvSpPr>
          <p:cNvPr name="TextBox 13" id="13"/>
          <p:cNvSpPr txBox="true"/>
          <p:nvPr/>
        </p:nvSpPr>
        <p:spPr>
          <a:xfrm rot="0">
            <a:off x="1930707" y="8666508"/>
            <a:ext cx="1711863" cy="209550"/>
          </a:xfrm>
          <a:prstGeom prst="rect">
            <a:avLst/>
          </a:prstGeom>
        </p:spPr>
        <p:txBody>
          <a:bodyPr anchor="t" rtlCol="false" tIns="0" lIns="0" bIns="0" rIns="0">
            <a:spAutoFit/>
          </a:bodyPr>
          <a:lstStyle/>
          <a:p>
            <a:pPr algn="l">
              <a:lnSpc>
                <a:spcPts val="1680"/>
              </a:lnSpc>
            </a:pPr>
            <a:r>
              <a:rPr lang="en-US" b="true" sz="1400" spc="-28">
                <a:solidFill>
                  <a:srgbClr val="FFFFFF"/>
                </a:solidFill>
                <a:latin typeface="Open Sauce Bold"/>
                <a:ea typeface="Open Sauce Bold"/>
                <a:cs typeface="Open Sauce Bold"/>
                <a:sym typeface="Open Sauce Bold"/>
              </a:rPr>
              <a:t>Prepared 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6466331" y="5143500"/>
            <a:ext cx="1821669" cy="4114800"/>
            <a:chOff x="0" y="0"/>
            <a:chExt cx="479781" cy="1083733"/>
          </a:xfrm>
        </p:grpSpPr>
        <p:sp>
          <p:nvSpPr>
            <p:cNvPr name="Freeform 4" id="4"/>
            <p:cNvSpPr/>
            <p:nvPr/>
          </p:nvSpPr>
          <p:spPr>
            <a:xfrm flipH="false" flipV="false" rot="0">
              <a:off x="0" y="0"/>
              <a:ext cx="479781" cy="1083733"/>
            </a:xfrm>
            <a:custGeom>
              <a:avLst/>
              <a:gdLst/>
              <a:ahLst/>
              <a:cxnLst/>
              <a:rect r="r" b="b" t="t" l="l"/>
              <a:pathLst>
                <a:path h="1083733" w="479781">
                  <a:moveTo>
                    <a:pt x="0" y="0"/>
                  </a:moveTo>
                  <a:lnTo>
                    <a:pt x="479781" y="0"/>
                  </a:lnTo>
                  <a:lnTo>
                    <a:pt x="479781" y="1083733"/>
                  </a:lnTo>
                  <a:lnTo>
                    <a:pt x="0" y="1083733"/>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479781" cy="1112308"/>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028700" y="2613962"/>
            <a:ext cx="8901905" cy="3887969"/>
          </a:xfrm>
          <a:prstGeom prst="rect">
            <a:avLst/>
          </a:prstGeom>
        </p:spPr>
        <p:txBody>
          <a:bodyPr anchor="t" rtlCol="false" tIns="0" lIns="0" bIns="0" rIns="0">
            <a:spAutoFit/>
          </a:bodyPr>
          <a:lstStyle/>
          <a:p>
            <a:pPr algn="l">
              <a:lnSpc>
                <a:spcPts val="10027"/>
              </a:lnSpc>
            </a:pPr>
            <a:r>
              <a:rPr lang="en-US" sz="10555" i="true" spc="-422">
                <a:solidFill>
                  <a:srgbClr val="8AB2A6"/>
                </a:solidFill>
                <a:latin typeface="Anton Italics"/>
                <a:ea typeface="Anton Italics"/>
                <a:cs typeface="Anton Italics"/>
                <a:sym typeface="Anton Italics"/>
              </a:rPr>
              <a:t>TOP KOREAN DRAMAS DATASET</a:t>
            </a:r>
          </a:p>
          <a:p>
            <a:pPr algn="l">
              <a:lnSpc>
                <a:spcPts val="10027"/>
              </a:lnSpc>
            </a:pPr>
          </a:p>
        </p:txBody>
      </p:sp>
      <p:sp>
        <p:nvSpPr>
          <p:cNvPr name="Freeform 7" id="7"/>
          <p:cNvSpPr/>
          <p:nvPr/>
        </p:nvSpPr>
        <p:spPr>
          <a:xfrm flipH="false" flipV="false" rot="0">
            <a:off x="8977041" y="2936012"/>
            <a:ext cx="726809" cy="726809"/>
          </a:xfrm>
          <a:custGeom>
            <a:avLst/>
            <a:gdLst/>
            <a:ahLst/>
            <a:cxnLst/>
            <a:rect r="r" b="b" t="t" l="l"/>
            <a:pathLst>
              <a:path h="726809" w="726809">
                <a:moveTo>
                  <a:pt x="0" y="0"/>
                </a:moveTo>
                <a:lnTo>
                  <a:pt x="726809" y="0"/>
                </a:lnTo>
                <a:lnTo>
                  <a:pt x="726809"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703850" y="2224176"/>
            <a:ext cx="7555450" cy="7034124"/>
            <a:chOff x="0" y="0"/>
            <a:chExt cx="6350000" cy="5911850"/>
          </a:xfrm>
        </p:grpSpPr>
        <p:sp>
          <p:nvSpPr>
            <p:cNvPr name="Freeform 9" id="9"/>
            <p:cNvSpPr/>
            <p:nvPr/>
          </p:nvSpPr>
          <p:spPr>
            <a:xfrm flipH="false" flipV="false" rot="0">
              <a:off x="302" y="0"/>
              <a:ext cx="6348428" cy="5911850"/>
            </a:xfrm>
            <a:custGeom>
              <a:avLst/>
              <a:gdLst/>
              <a:ahLst/>
              <a:cxnLst/>
              <a:rect r="r" b="b" t="t" l="l"/>
              <a:pathLst>
                <a:path h="5911850" w="6348428">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5"/>
              <a:stretch>
                <a:fillRect l="0" t="0" r="-31159" b="0"/>
              </a:stretch>
            </a:blipFill>
          </p:spPr>
        </p:sp>
      </p:grpSp>
      <p:grpSp>
        <p:nvGrpSpPr>
          <p:cNvPr name="Group 10" id="10"/>
          <p:cNvGrpSpPr/>
          <p:nvPr/>
        </p:nvGrpSpPr>
        <p:grpSpPr>
          <a:xfrm rot="0">
            <a:off x="1028700" y="6215867"/>
            <a:ext cx="8675150" cy="3042433"/>
            <a:chOff x="0" y="0"/>
            <a:chExt cx="1441468" cy="505532"/>
          </a:xfrm>
        </p:grpSpPr>
        <p:sp>
          <p:nvSpPr>
            <p:cNvPr name="Freeform 11" id="11"/>
            <p:cNvSpPr/>
            <p:nvPr/>
          </p:nvSpPr>
          <p:spPr>
            <a:xfrm flipH="false" flipV="false" rot="0">
              <a:off x="0" y="0"/>
              <a:ext cx="1441468" cy="505532"/>
            </a:xfrm>
            <a:custGeom>
              <a:avLst/>
              <a:gdLst/>
              <a:ahLst/>
              <a:cxnLst/>
              <a:rect r="r" b="b" t="t" l="l"/>
              <a:pathLst>
                <a:path h="505532" w="1441468">
                  <a:moveTo>
                    <a:pt x="1441468" y="45514"/>
                  </a:moveTo>
                  <a:lnTo>
                    <a:pt x="1441468" y="460018"/>
                  </a:lnTo>
                  <a:cubicBezTo>
                    <a:pt x="1441468" y="472089"/>
                    <a:pt x="1436673" y="483666"/>
                    <a:pt x="1428138" y="492201"/>
                  </a:cubicBezTo>
                  <a:cubicBezTo>
                    <a:pt x="1419602" y="500737"/>
                    <a:pt x="1408026" y="505532"/>
                    <a:pt x="1395955" y="505532"/>
                  </a:cubicBezTo>
                  <a:lnTo>
                    <a:pt x="45514" y="505532"/>
                  </a:lnTo>
                  <a:cubicBezTo>
                    <a:pt x="33443" y="505532"/>
                    <a:pt x="21866" y="500737"/>
                    <a:pt x="13331" y="492201"/>
                  </a:cubicBezTo>
                  <a:cubicBezTo>
                    <a:pt x="4795" y="483666"/>
                    <a:pt x="0" y="472089"/>
                    <a:pt x="0" y="460018"/>
                  </a:cubicBezTo>
                  <a:lnTo>
                    <a:pt x="0" y="45514"/>
                  </a:lnTo>
                  <a:cubicBezTo>
                    <a:pt x="0" y="33443"/>
                    <a:pt x="4795" y="21866"/>
                    <a:pt x="13331" y="13331"/>
                  </a:cubicBezTo>
                  <a:cubicBezTo>
                    <a:pt x="21866" y="4795"/>
                    <a:pt x="33443" y="0"/>
                    <a:pt x="45514" y="0"/>
                  </a:cubicBezTo>
                  <a:lnTo>
                    <a:pt x="1395955" y="0"/>
                  </a:lnTo>
                  <a:cubicBezTo>
                    <a:pt x="1421091" y="0"/>
                    <a:pt x="1441468" y="20377"/>
                    <a:pt x="1441468" y="45514"/>
                  </a:cubicBezTo>
                  <a:close/>
                </a:path>
              </a:pathLst>
            </a:custGeom>
            <a:solidFill>
              <a:srgbClr val="000000">
                <a:alpha val="0"/>
              </a:srgbClr>
            </a:solidFill>
            <a:ln w="19050" cap="rnd">
              <a:solidFill>
                <a:srgbClr val="8AB2A6"/>
              </a:solidFill>
              <a:prstDash val="solid"/>
              <a:round/>
            </a:ln>
          </p:spPr>
        </p:sp>
        <p:sp>
          <p:nvSpPr>
            <p:cNvPr name="TextBox 12" id="12"/>
            <p:cNvSpPr txBox="true"/>
            <p:nvPr/>
          </p:nvSpPr>
          <p:spPr>
            <a:xfrm>
              <a:off x="0" y="0"/>
              <a:ext cx="1441468" cy="505532"/>
            </a:xfrm>
            <a:prstGeom prst="rect">
              <a:avLst/>
            </a:prstGeom>
          </p:spPr>
          <p:txBody>
            <a:bodyPr anchor="ctr" rtlCol="false" tIns="50800" lIns="50800" bIns="50800" rIns="50800"/>
            <a:lstStyle/>
            <a:p>
              <a:pPr algn="ctr">
                <a:lnSpc>
                  <a:spcPts val="1680"/>
                </a:lnSpc>
              </a:pPr>
            </a:p>
          </p:txBody>
        </p:sp>
      </p:grpSp>
      <p:sp>
        <p:nvSpPr>
          <p:cNvPr name="TextBox 13" id="13"/>
          <p:cNvSpPr txBox="true"/>
          <p:nvPr/>
        </p:nvSpPr>
        <p:spPr>
          <a:xfrm rot="0">
            <a:off x="1392104" y="1028700"/>
            <a:ext cx="7948341" cy="627671"/>
          </a:xfrm>
          <a:prstGeom prst="rect">
            <a:avLst/>
          </a:prstGeom>
        </p:spPr>
        <p:txBody>
          <a:bodyPr anchor="t" rtlCol="false" tIns="0" lIns="0" bIns="0" rIns="0">
            <a:spAutoFit/>
          </a:bodyPr>
          <a:lstStyle/>
          <a:p>
            <a:pPr algn="l">
              <a:lnSpc>
                <a:spcPts val="4962"/>
              </a:lnSpc>
            </a:pPr>
            <a:r>
              <a:rPr lang="en-US" sz="4135" i="true" spc="-82">
                <a:solidFill>
                  <a:srgbClr val="FFFFFF"/>
                </a:solidFill>
                <a:latin typeface="Anton Italics"/>
                <a:ea typeface="Anton Italics"/>
                <a:cs typeface="Anton Italics"/>
                <a:sym typeface="Anton Italics"/>
              </a:rPr>
              <a:t>EL DATASET SELECCIONADO FUE:</a:t>
            </a:r>
          </a:p>
        </p:txBody>
      </p:sp>
      <p:sp>
        <p:nvSpPr>
          <p:cNvPr name="TextBox 14" id="14"/>
          <p:cNvSpPr txBox="true"/>
          <p:nvPr/>
        </p:nvSpPr>
        <p:spPr>
          <a:xfrm rot="0">
            <a:off x="1685162" y="6794257"/>
            <a:ext cx="7291879" cy="2733675"/>
          </a:xfrm>
          <a:prstGeom prst="rect">
            <a:avLst/>
          </a:prstGeom>
        </p:spPr>
        <p:txBody>
          <a:bodyPr anchor="t" rtlCol="false" tIns="0" lIns="0" bIns="0" rIns="0">
            <a:spAutoFit/>
          </a:bodyPr>
          <a:lstStyle/>
          <a:p>
            <a:pPr algn="l">
              <a:lnSpc>
                <a:spcPts val="3119"/>
              </a:lnSpc>
            </a:pPr>
            <a:r>
              <a:rPr lang="en-US" sz="2599" spc="-51">
                <a:solidFill>
                  <a:srgbClr val="FFFFFF"/>
                </a:solidFill>
                <a:latin typeface="Open Sauce"/>
                <a:ea typeface="Open Sauce"/>
                <a:cs typeface="Open Sauce"/>
                <a:sym typeface="Open Sauce"/>
              </a:rPr>
              <a:t>Link: https://www.kaggle.com/datasets/muqaddasejaz/top-korean-dramas-dataset?resource=download</a:t>
            </a:r>
          </a:p>
          <a:p>
            <a:pPr algn="l">
              <a:lnSpc>
                <a:spcPts val="3119"/>
              </a:lnSpc>
            </a:pPr>
          </a:p>
          <a:p>
            <a:pPr algn="l">
              <a:lnSpc>
                <a:spcPts val="3119"/>
              </a:lnSpc>
            </a:pPr>
          </a:p>
          <a:p>
            <a:pPr algn="l">
              <a:lnSpc>
                <a:spcPts val="311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1940179"/>
            <a:ext cx="1028700" cy="3231508"/>
            <a:chOff x="0" y="0"/>
            <a:chExt cx="270933" cy="851097"/>
          </a:xfrm>
        </p:grpSpPr>
        <p:sp>
          <p:nvSpPr>
            <p:cNvPr name="Freeform 4" id="4"/>
            <p:cNvSpPr/>
            <p:nvPr/>
          </p:nvSpPr>
          <p:spPr>
            <a:xfrm flipH="false" flipV="false" rot="0">
              <a:off x="0" y="0"/>
              <a:ext cx="270933" cy="851097"/>
            </a:xfrm>
            <a:custGeom>
              <a:avLst/>
              <a:gdLst/>
              <a:ahLst/>
              <a:cxnLst/>
              <a:rect r="r" b="b" t="t" l="l"/>
              <a:pathLst>
                <a:path h="851097" w="270933">
                  <a:moveTo>
                    <a:pt x="0" y="0"/>
                  </a:moveTo>
                  <a:lnTo>
                    <a:pt x="270933" y="0"/>
                  </a:lnTo>
                  <a:lnTo>
                    <a:pt x="270933" y="851097"/>
                  </a:lnTo>
                  <a:lnTo>
                    <a:pt x="0" y="851097"/>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270933" cy="879672"/>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1028700" y="1042193"/>
            <a:ext cx="8215857" cy="5027480"/>
            <a:chOff x="0" y="0"/>
            <a:chExt cx="1365152" cy="835368"/>
          </a:xfrm>
        </p:grpSpPr>
        <p:sp>
          <p:nvSpPr>
            <p:cNvPr name="Freeform 7" id="7"/>
            <p:cNvSpPr/>
            <p:nvPr/>
          </p:nvSpPr>
          <p:spPr>
            <a:xfrm flipH="false" flipV="false" rot="0">
              <a:off x="0" y="0"/>
              <a:ext cx="1365152" cy="835368"/>
            </a:xfrm>
            <a:custGeom>
              <a:avLst/>
              <a:gdLst/>
              <a:ahLst/>
              <a:cxnLst/>
              <a:rect r="r" b="b" t="t" l="l"/>
              <a:pathLst>
                <a:path h="835368" w="1365152">
                  <a:moveTo>
                    <a:pt x="1365152" y="48058"/>
                  </a:moveTo>
                  <a:lnTo>
                    <a:pt x="1365152" y="787310"/>
                  </a:lnTo>
                  <a:cubicBezTo>
                    <a:pt x="1365152" y="800056"/>
                    <a:pt x="1360089" y="812280"/>
                    <a:pt x="1351076" y="821292"/>
                  </a:cubicBezTo>
                  <a:cubicBezTo>
                    <a:pt x="1342063" y="830305"/>
                    <a:pt x="1329840" y="835368"/>
                    <a:pt x="1317094" y="835368"/>
                  </a:cubicBezTo>
                  <a:lnTo>
                    <a:pt x="48058" y="835368"/>
                  </a:lnTo>
                  <a:cubicBezTo>
                    <a:pt x="21516" y="835368"/>
                    <a:pt x="0" y="813852"/>
                    <a:pt x="0" y="787310"/>
                  </a:cubicBezTo>
                  <a:lnTo>
                    <a:pt x="0" y="48058"/>
                  </a:lnTo>
                  <a:cubicBezTo>
                    <a:pt x="0" y="21516"/>
                    <a:pt x="21516" y="0"/>
                    <a:pt x="48058" y="0"/>
                  </a:cubicBezTo>
                  <a:lnTo>
                    <a:pt x="1317094" y="0"/>
                  </a:lnTo>
                  <a:cubicBezTo>
                    <a:pt x="1343636" y="0"/>
                    <a:pt x="1365152" y="21516"/>
                    <a:pt x="1365152" y="48058"/>
                  </a:cubicBezTo>
                  <a:close/>
                </a:path>
              </a:pathLst>
            </a:custGeom>
            <a:solidFill>
              <a:srgbClr val="000000">
                <a:alpha val="0"/>
              </a:srgbClr>
            </a:solidFill>
            <a:ln w="19050" cap="rnd">
              <a:solidFill>
                <a:srgbClr val="8AB2A6"/>
              </a:solidFill>
              <a:prstDash val="solid"/>
              <a:round/>
            </a:ln>
          </p:spPr>
        </p:sp>
        <p:sp>
          <p:nvSpPr>
            <p:cNvPr name="TextBox 8" id="8"/>
            <p:cNvSpPr txBox="true"/>
            <p:nvPr/>
          </p:nvSpPr>
          <p:spPr>
            <a:xfrm>
              <a:off x="0" y="0"/>
              <a:ext cx="1365152" cy="835368"/>
            </a:xfrm>
            <a:prstGeom prst="rect">
              <a:avLst/>
            </a:prstGeom>
          </p:spPr>
          <p:txBody>
            <a:bodyPr anchor="ctr" rtlCol="false" tIns="50800" lIns="50800" bIns="50800" rIns="50800"/>
            <a:lstStyle/>
            <a:p>
              <a:pPr algn="ctr">
                <a:lnSpc>
                  <a:spcPts val="1680"/>
                </a:lnSpc>
              </a:pPr>
            </a:p>
          </p:txBody>
        </p:sp>
      </p:grpSp>
      <p:sp>
        <p:nvSpPr>
          <p:cNvPr name="Freeform 9" id="9"/>
          <p:cNvSpPr/>
          <p:nvPr/>
        </p:nvSpPr>
        <p:spPr>
          <a:xfrm flipH="false" flipV="false" rot="0">
            <a:off x="1284689" y="6492760"/>
            <a:ext cx="726809" cy="726809"/>
          </a:xfrm>
          <a:custGeom>
            <a:avLst/>
            <a:gdLst/>
            <a:ahLst/>
            <a:cxnLst/>
            <a:rect r="r" b="b" t="t" l="l"/>
            <a:pathLst>
              <a:path h="726809" w="726809">
                <a:moveTo>
                  <a:pt x="0" y="0"/>
                </a:moveTo>
                <a:lnTo>
                  <a:pt x="726809" y="0"/>
                </a:lnTo>
                <a:lnTo>
                  <a:pt x="726809"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648093" y="1462114"/>
            <a:ext cx="6977071" cy="4187638"/>
            <a:chOff x="0" y="0"/>
            <a:chExt cx="6350000" cy="3811270"/>
          </a:xfrm>
        </p:grpSpPr>
        <p:sp>
          <p:nvSpPr>
            <p:cNvPr name="Freeform 11" id="11"/>
            <p:cNvSpPr/>
            <p:nvPr/>
          </p:nvSpPr>
          <p:spPr>
            <a:xfrm flipH="false" flipV="false" rot="0">
              <a:off x="0" y="0"/>
              <a:ext cx="6350000" cy="3811270"/>
            </a:xfrm>
            <a:custGeom>
              <a:avLst/>
              <a:gdLst/>
              <a:ahLst/>
              <a:cxnLst/>
              <a:rect r="r" b="b" t="t" l="l"/>
              <a:pathLst>
                <a:path h="3811270" w="635000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5"/>
              <a:stretch>
                <a:fillRect l="0" t="-9146" r="0" b="-9146"/>
              </a:stretch>
            </a:blipFill>
          </p:spPr>
        </p:sp>
      </p:grpSp>
      <p:sp>
        <p:nvSpPr>
          <p:cNvPr name="TextBox 12" id="12"/>
          <p:cNvSpPr txBox="true"/>
          <p:nvPr/>
        </p:nvSpPr>
        <p:spPr>
          <a:xfrm rot="0">
            <a:off x="10342197" y="1304925"/>
            <a:ext cx="7945803" cy="1464931"/>
          </a:xfrm>
          <a:prstGeom prst="rect">
            <a:avLst/>
          </a:prstGeom>
        </p:spPr>
        <p:txBody>
          <a:bodyPr anchor="t" rtlCol="false" tIns="0" lIns="0" bIns="0" rIns="0">
            <a:spAutoFit/>
          </a:bodyPr>
          <a:lstStyle/>
          <a:p>
            <a:pPr algn="l">
              <a:lnSpc>
                <a:spcPts val="10880"/>
              </a:lnSpc>
            </a:pPr>
            <a:r>
              <a:rPr lang="en-US" sz="11453" i="true" spc="-458">
                <a:solidFill>
                  <a:srgbClr val="8AB2A6"/>
                </a:solidFill>
                <a:latin typeface="Anton Italics"/>
                <a:ea typeface="Anton Italics"/>
                <a:cs typeface="Anton Italics"/>
                <a:sym typeface="Anton Italics"/>
              </a:rPr>
              <a:t>EXPLICACIÓN</a:t>
            </a:r>
          </a:p>
        </p:txBody>
      </p:sp>
      <p:sp>
        <p:nvSpPr>
          <p:cNvPr name="TextBox 13" id="13"/>
          <p:cNvSpPr txBox="true"/>
          <p:nvPr/>
        </p:nvSpPr>
        <p:spPr>
          <a:xfrm rot="0">
            <a:off x="10096440" y="3159010"/>
            <a:ext cx="7162860" cy="3333750"/>
          </a:xfrm>
          <a:prstGeom prst="rect">
            <a:avLst/>
          </a:prstGeom>
        </p:spPr>
        <p:txBody>
          <a:bodyPr anchor="t" rtlCol="false" tIns="0" lIns="0" bIns="0" rIns="0">
            <a:spAutoFit/>
          </a:bodyPr>
          <a:lstStyle/>
          <a:p>
            <a:pPr algn="just">
              <a:lnSpc>
                <a:spcPts val="2636"/>
              </a:lnSpc>
            </a:pPr>
            <a:r>
              <a:rPr lang="en-US" sz="2197" spc="-43">
                <a:solidFill>
                  <a:srgbClr val="FFFFFF"/>
                </a:solidFill>
                <a:latin typeface="Open Sauce"/>
                <a:ea typeface="Open Sauce"/>
                <a:cs typeface="Open Sauce"/>
                <a:sym typeface="Open Sauce"/>
              </a:rPr>
              <a:t>El conjunto de datos incluye 251 filas y 17 columnas, ofreciendo información descriptiva rica que puede ser utilizada para el análisis de tendencias, sistemas de recomendación y filtrado basado en contenido. La mayor parte de la información fue obtenida de MyDramaList, mientras que los detalles de las compañías productoras fueron obtenidos de Wikipedia. Este conjunto de datos contiene información sobre los 250 dramas coreanos mejor clasificados según el sitio web MyDramaList.</a:t>
            </a:r>
          </a:p>
        </p:txBody>
      </p:sp>
      <p:sp>
        <p:nvSpPr>
          <p:cNvPr name="TextBox 14" id="14"/>
          <p:cNvSpPr txBox="true"/>
          <p:nvPr/>
        </p:nvSpPr>
        <p:spPr>
          <a:xfrm rot="0">
            <a:off x="3648108" y="7219569"/>
            <a:ext cx="10991783" cy="2000250"/>
          </a:xfrm>
          <a:prstGeom prst="rect">
            <a:avLst/>
          </a:prstGeom>
        </p:spPr>
        <p:txBody>
          <a:bodyPr anchor="t" rtlCol="false" tIns="0" lIns="0" bIns="0" rIns="0">
            <a:spAutoFit/>
          </a:bodyPr>
          <a:lstStyle/>
          <a:p>
            <a:pPr algn="just">
              <a:lnSpc>
                <a:spcPts val="2636"/>
              </a:lnSpc>
            </a:pPr>
            <a:r>
              <a:rPr lang="en-US" sz="2197" spc="-43">
                <a:solidFill>
                  <a:srgbClr val="FFFFFF"/>
                </a:solidFill>
                <a:latin typeface="Open Sauce"/>
                <a:ea typeface="Open Sauce"/>
                <a:cs typeface="Open Sauce"/>
                <a:sym typeface="Open Sauce"/>
              </a:rPr>
              <a:t>Debido a que este dataset tiene 17 columnas solamente seleccioné Rating y Episodes como Num1 y Num2 para analizar la calidad frente a la duración, y Drama Name como Text para aplicar normalización de texto necesaria en reportes estandarizados.</a:t>
            </a:r>
          </a:p>
          <a:p>
            <a:pPr algn="just">
              <a:lnSpc>
                <a:spcPts val="2636"/>
              </a:lnSpc>
            </a:pPr>
          </a:p>
          <a:p>
            <a:pPr algn="just">
              <a:lnSpc>
                <a:spcPts val="2636"/>
              </a:lnSpc>
            </a:pPr>
            <a:r>
              <a:rPr lang="en-US" sz="2197" spc="-43">
                <a:solidFill>
                  <a:srgbClr val="FFFFFF"/>
                </a:solidFill>
                <a:latin typeface="Open Sauce"/>
                <a:ea typeface="Open Sauce"/>
                <a:cs typeface="Open Sauce"/>
                <a:sym typeface="Open Sauce"/>
              </a:rPr>
              <a:t>Los valores que usé en este caso son L = 25 y PAD_CHAR = ‘ -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12134183" y="7922479"/>
            <a:ext cx="1238250" cy="3490793"/>
            <a:chOff x="0" y="0"/>
            <a:chExt cx="326123" cy="919386"/>
          </a:xfrm>
        </p:grpSpPr>
        <p:sp>
          <p:nvSpPr>
            <p:cNvPr name="Freeform 4" id="4"/>
            <p:cNvSpPr/>
            <p:nvPr/>
          </p:nvSpPr>
          <p:spPr>
            <a:xfrm flipH="false" flipV="false" rot="0">
              <a:off x="0" y="0"/>
              <a:ext cx="326123" cy="919386"/>
            </a:xfrm>
            <a:custGeom>
              <a:avLst/>
              <a:gdLst/>
              <a:ahLst/>
              <a:cxnLst/>
              <a:rect r="r" b="b" t="t" l="l"/>
              <a:pathLst>
                <a:path h="919386" w="326123">
                  <a:moveTo>
                    <a:pt x="0" y="0"/>
                  </a:moveTo>
                  <a:lnTo>
                    <a:pt x="326123" y="0"/>
                  </a:lnTo>
                  <a:lnTo>
                    <a:pt x="326123" y="919386"/>
                  </a:lnTo>
                  <a:lnTo>
                    <a:pt x="0" y="919386"/>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326123" cy="947961"/>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1028700" y="1028700"/>
            <a:ext cx="7242181" cy="6172200"/>
            <a:chOff x="0" y="0"/>
            <a:chExt cx="1203365" cy="1025575"/>
          </a:xfrm>
        </p:grpSpPr>
        <p:sp>
          <p:nvSpPr>
            <p:cNvPr name="Freeform 7" id="7"/>
            <p:cNvSpPr/>
            <p:nvPr/>
          </p:nvSpPr>
          <p:spPr>
            <a:xfrm flipH="false" flipV="false" rot="0">
              <a:off x="0" y="0"/>
              <a:ext cx="1203365" cy="1025575"/>
            </a:xfrm>
            <a:custGeom>
              <a:avLst/>
              <a:gdLst/>
              <a:ahLst/>
              <a:cxnLst/>
              <a:rect r="r" b="b" t="t" l="l"/>
              <a:pathLst>
                <a:path h="1025575" w="1203365">
                  <a:moveTo>
                    <a:pt x="1203365" y="54519"/>
                  </a:moveTo>
                  <a:lnTo>
                    <a:pt x="1203365" y="971056"/>
                  </a:lnTo>
                  <a:cubicBezTo>
                    <a:pt x="1203365" y="1001166"/>
                    <a:pt x="1178956" y="1025575"/>
                    <a:pt x="1148846" y="1025575"/>
                  </a:cubicBezTo>
                  <a:lnTo>
                    <a:pt x="54519" y="1025575"/>
                  </a:lnTo>
                  <a:cubicBezTo>
                    <a:pt x="24409" y="1025575"/>
                    <a:pt x="0" y="1001166"/>
                    <a:pt x="0" y="971056"/>
                  </a:cubicBezTo>
                  <a:lnTo>
                    <a:pt x="0" y="54519"/>
                  </a:lnTo>
                  <a:cubicBezTo>
                    <a:pt x="0" y="24409"/>
                    <a:pt x="24409" y="0"/>
                    <a:pt x="54519" y="0"/>
                  </a:cubicBezTo>
                  <a:lnTo>
                    <a:pt x="1148846" y="0"/>
                  </a:lnTo>
                  <a:cubicBezTo>
                    <a:pt x="1178956" y="0"/>
                    <a:pt x="1203365" y="24409"/>
                    <a:pt x="1203365" y="54519"/>
                  </a:cubicBezTo>
                  <a:close/>
                </a:path>
              </a:pathLst>
            </a:custGeom>
            <a:solidFill>
              <a:srgbClr val="000000">
                <a:alpha val="0"/>
              </a:srgbClr>
            </a:solidFill>
            <a:ln w="19050" cap="rnd">
              <a:solidFill>
                <a:srgbClr val="8AB2A6"/>
              </a:solidFill>
              <a:prstDash val="solid"/>
              <a:round/>
            </a:ln>
          </p:spPr>
        </p:sp>
        <p:sp>
          <p:nvSpPr>
            <p:cNvPr name="TextBox 8" id="8"/>
            <p:cNvSpPr txBox="true"/>
            <p:nvPr/>
          </p:nvSpPr>
          <p:spPr>
            <a:xfrm>
              <a:off x="0" y="0"/>
              <a:ext cx="1203365" cy="1025575"/>
            </a:xfrm>
            <a:prstGeom prst="rect">
              <a:avLst/>
            </a:prstGeom>
          </p:spPr>
          <p:txBody>
            <a:bodyPr anchor="ctr" rtlCol="false" tIns="50800" lIns="50800" bIns="50800" rIns="50800"/>
            <a:lstStyle/>
            <a:p>
              <a:pPr algn="ctr">
                <a:lnSpc>
                  <a:spcPts val="1680"/>
                </a:lnSpc>
              </a:pPr>
            </a:p>
          </p:txBody>
        </p:sp>
      </p:grpSp>
      <p:grpSp>
        <p:nvGrpSpPr>
          <p:cNvPr name="Group 9" id="9"/>
          <p:cNvGrpSpPr/>
          <p:nvPr/>
        </p:nvGrpSpPr>
        <p:grpSpPr>
          <a:xfrm rot="5400000">
            <a:off x="12238958" y="-1231046"/>
            <a:ext cx="1028700" cy="3490793"/>
            <a:chOff x="0" y="0"/>
            <a:chExt cx="270933" cy="919386"/>
          </a:xfrm>
        </p:grpSpPr>
        <p:sp>
          <p:nvSpPr>
            <p:cNvPr name="Freeform 10" id="10"/>
            <p:cNvSpPr/>
            <p:nvPr/>
          </p:nvSpPr>
          <p:spPr>
            <a:xfrm flipH="false" flipV="false" rot="0">
              <a:off x="0" y="0"/>
              <a:ext cx="270933" cy="919386"/>
            </a:xfrm>
            <a:custGeom>
              <a:avLst/>
              <a:gdLst/>
              <a:ahLst/>
              <a:cxnLst/>
              <a:rect r="r" b="b" t="t" l="l"/>
              <a:pathLst>
                <a:path h="919386" w="270933">
                  <a:moveTo>
                    <a:pt x="0" y="0"/>
                  </a:moveTo>
                  <a:lnTo>
                    <a:pt x="270933" y="0"/>
                  </a:lnTo>
                  <a:lnTo>
                    <a:pt x="270933" y="919386"/>
                  </a:lnTo>
                  <a:lnTo>
                    <a:pt x="0" y="919386"/>
                  </a:lnTo>
                  <a:close/>
                </a:path>
              </a:pathLst>
            </a:custGeom>
            <a:gradFill rotWithShape="true">
              <a:gsLst>
                <a:gs pos="0">
                  <a:srgbClr val="3E9D81">
                    <a:alpha val="100000"/>
                  </a:srgbClr>
                </a:gs>
                <a:gs pos="100000">
                  <a:srgbClr val="3E9D81">
                    <a:alpha val="0"/>
                  </a:srgbClr>
                </a:gs>
              </a:gsLst>
              <a:lin ang="0"/>
            </a:gradFill>
          </p:spPr>
        </p:sp>
        <p:sp>
          <p:nvSpPr>
            <p:cNvPr name="TextBox 11" id="11"/>
            <p:cNvSpPr txBox="true"/>
            <p:nvPr/>
          </p:nvSpPr>
          <p:spPr>
            <a:xfrm>
              <a:off x="0" y="-28575"/>
              <a:ext cx="270933" cy="947961"/>
            </a:xfrm>
            <a:prstGeom prst="rect">
              <a:avLst/>
            </a:prstGeom>
          </p:spPr>
          <p:txBody>
            <a:bodyPr anchor="ctr" rtlCol="false" tIns="50800" lIns="50800" bIns="50800" rIns="50800"/>
            <a:lstStyle/>
            <a:p>
              <a:pPr algn="ctr">
                <a:lnSpc>
                  <a:spcPts val="1960"/>
                </a:lnSpc>
              </a:pPr>
            </a:p>
          </p:txBody>
        </p:sp>
      </p:grpSp>
      <p:sp>
        <p:nvSpPr>
          <p:cNvPr name="Freeform 12" id="12"/>
          <p:cNvSpPr/>
          <p:nvPr/>
        </p:nvSpPr>
        <p:spPr>
          <a:xfrm flipH="false" flipV="false" rot="0">
            <a:off x="9144000" y="3971015"/>
            <a:ext cx="726809" cy="726809"/>
          </a:xfrm>
          <a:custGeom>
            <a:avLst/>
            <a:gdLst/>
            <a:ahLst/>
            <a:cxnLst/>
            <a:rect r="r" b="b" t="t" l="l"/>
            <a:pathLst>
              <a:path h="726809" w="726809">
                <a:moveTo>
                  <a:pt x="0" y="0"/>
                </a:moveTo>
                <a:lnTo>
                  <a:pt x="726809" y="0"/>
                </a:lnTo>
                <a:lnTo>
                  <a:pt x="726809"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115733" y="1497563"/>
            <a:ext cx="7431418" cy="1940111"/>
          </a:xfrm>
          <a:custGeom>
            <a:avLst/>
            <a:gdLst/>
            <a:ahLst/>
            <a:cxnLst/>
            <a:rect r="r" b="b" t="t" l="l"/>
            <a:pathLst>
              <a:path h="1940111" w="7431418">
                <a:moveTo>
                  <a:pt x="0" y="0"/>
                </a:moveTo>
                <a:lnTo>
                  <a:pt x="7431419" y="0"/>
                </a:lnTo>
                <a:lnTo>
                  <a:pt x="7431419" y="1940111"/>
                </a:lnTo>
                <a:lnTo>
                  <a:pt x="0" y="1940111"/>
                </a:lnTo>
                <a:lnTo>
                  <a:pt x="0" y="0"/>
                </a:lnTo>
                <a:close/>
              </a:path>
            </a:pathLst>
          </a:custGeom>
          <a:blipFill>
            <a:blip r:embed="rId5"/>
            <a:stretch>
              <a:fillRect l="0" t="0" r="0" b="0"/>
            </a:stretch>
          </a:blipFill>
        </p:spPr>
      </p:sp>
      <p:sp>
        <p:nvSpPr>
          <p:cNvPr name="Freeform 14" id="14"/>
          <p:cNvSpPr/>
          <p:nvPr/>
        </p:nvSpPr>
        <p:spPr>
          <a:xfrm flipH="false" flipV="false" rot="9591421">
            <a:off x="4590024" y="1408967"/>
            <a:ext cx="1063644" cy="903130"/>
          </a:xfrm>
          <a:custGeom>
            <a:avLst/>
            <a:gdLst/>
            <a:ahLst/>
            <a:cxnLst/>
            <a:rect r="r" b="b" t="t" l="l"/>
            <a:pathLst>
              <a:path h="903130" w="1063644">
                <a:moveTo>
                  <a:pt x="0" y="0"/>
                </a:moveTo>
                <a:lnTo>
                  <a:pt x="1063644" y="0"/>
                </a:lnTo>
                <a:lnTo>
                  <a:pt x="1063644" y="903130"/>
                </a:lnTo>
                <a:lnTo>
                  <a:pt x="0" y="903130"/>
                </a:lnTo>
                <a:lnTo>
                  <a:pt x="0" y="0"/>
                </a:lnTo>
                <a:close/>
              </a:path>
            </a:pathLst>
          </a:custGeom>
          <a:blipFill>
            <a:blip r:embed="rId6"/>
            <a:stretch>
              <a:fillRect l="0" t="0" r="0" b="0"/>
            </a:stretch>
          </a:blipFill>
        </p:spPr>
      </p:sp>
      <p:sp>
        <p:nvSpPr>
          <p:cNvPr name="TextBox 15" id="15"/>
          <p:cNvSpPr txBox="true"/>
          <p:nvPr/>
        </p:nvSpPr>
        <p:spPr>
          <a:xfrm rot="0">
            <a:off x="4933593" y="5133975"/>
            <a:ext cx="2805620" cy="1676400"/>
          </a:xfrm>
          <a:prstGeom prst="rect">
            <a:avLst/>
          </a:prstGeom>
        </p:spPr>
        <p:txBody>
          <a:bodyPr anchor="t" rtlCol="false" tIns="0" lIns="0" bIns="0" rIns="0">
            <a:spAutoFit/>
          </a:bodyPr>
          <a:lstStyle/>
          <a:p>
            <a:pPr algn="just">
              <a:lnSpc>
                <a:spcPts val="1919"/>
              </a:lnSpc>
              <a:spcBef>
                <a:spcPct val="0"/>
              </a:spcBef>
            </a:pPr>
            <a:r>
              <a:rPr lang="en-US" sz="1599" spc="-31">
                <a:solidFill>
                  <a:srgbClr val="FFFFFF"/>
                </a:solidFill>
                <a:latin typeface="Open Sauce"/>
                <a:ea typeface="Open Sauce"/>
                <a:cs typeface="Open Sauce"/>
                <a:sym typeface="Open Sauce"/>
              </a:rPr>
              <a:t>Tras recibir el mensaje de confirmación del sistema, escribiremos únicamente la palabra main en la consola con referencia a ghci (ghci&gt;) para poner en marcha el programa.</a:t>
            </a:r>
          </a:p>
        </p:txBody>
      </p:sp>
      <p:sp>
        <p:nvSpPr>
          <p:cNvPr name="Freeform 16" id="16"/>
          <p:cNvSpPr/>
          <p:nvPr/>
        </p:nvSpPr>
        <p:spPr>
          <a:xfrm flipH="false" flipV="false" rot="9591421">
            <a:off x="4505284" y="4396991"/>
            <a:ext cx="1151058" cy="903130"/>
          </a:xfrm>
          <a:custGeom>
            <a:avLst/>
            <a:gdLst/>
            <a:ahLst/>
            <a:cxnLst/>
            <a:rect r="r" b="b" t="t" l="l"/>
            <a:pathLst>
              <a:path h="903130" w="1151058">
                <a:moveTo>
                  <a:pt x="0" y="0"/>
                </a:moveTo>
                <a:lnTo>
                  <a:pt x="1151057" y="0"/>
                </a:lnTo>
                <a:lnTo>
                  <a:pt x="1151057" y="903130"/>
                </a:lnTo>
                <a:lnTo>
                  <a:pt x="0" y="903130"/>
                </a:lnTo>
                <a:lnTo>
                  <a:pt x="0" y="0"/>
                </a:lnTo>
                <a:close/>
              </a:path>
            </a:pathLst>
          </a:custGeom>
          <a:blipFill>
            <a:blip r:embed="rId6"/>
            <a:stretch>
              <a:fillRect l="0" t="-4109" r="0" b="-4109"/>
            </a:stretch>
          </a:blipFill>
        </p:spPr>
      </p:sp>
      <p:sp>
        <p:nvSpPr>
          <p:cNvPr name="Freeform 17" id="17"/>
          <p:cNvSpPr/>
          <p:nvPr/>
        </p:nvSpPr>
        <p:spPr>
          <a:xfrm flipH="false" flipV="false" rot="2700000">
            <a:off x="3871408" y="2991952"/>
            <a:ext cx="715757" cy="1276322"/>
          </a:xfrm>
          <a:custGeom>
            <a:avLst/>
            <a:gdLst/>
            <a:ahLst/>
            <a:cxnLst/>
            <a:rect r="r" b="b" t="t" l="l"/>
            <a:pathLst>
              <a:path h="1276322" w="715757">
                <a:moveTo>
                  <a:pt x="0" y="0"/>
                </a:moveTo>
                <a:lnTo>
                  <a:pt x="715757" y="0"/>
                </a:lnTo>
                <a:lnTo>
                  <a:pt x="715757" y="1276322"/>
                </a:lnTo>
                <a:lnTo>
                  <a:pt x="0" y="12763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9144000" y="3904399"/>
            <a:ext cx="8912814" cy="1487406"/>
          </a:xfrm>
          <a:custGeom>
            <a:avLst/>
            <a:gdLst/>
            <a:ahLst/>
            <a:cxnLst/>
            <a:rect r="r" b="b" t="t" l="l"/>
            <a:pathLst>
              <a:path h="1487406" w="8912814">
                <a:moveTo>
                  <a:pt x="0" y="0"/>
                </a:moveTo>
                <a:lnTo>
                  <a:pt x="8912814" y="0"/>
                </a:lnTo>
                <a:lnTo>
                  <a:pt x="8912814" y="1487405"/>
                </a:lnTo>
                <a:lnTo>
                  <a:pt x="0" y="1487405"/>
                </a:lnTo>
                <a:lnTo>
                  <a:pt x="0" y="0"/>
                </a:lnTo>
                <a:close/>
              </a:path>
            </a:pathLst>
          </a:custGeom>
          <a:blipFill>
            <a:blip r:embed="rId9"/>
            <a:stretch>
              <a:fillRect l="0" t="0" r="0" b="0"/>
            </a:stretch>
          </a:blipFill>
        </p:spPr>
      </p:sp>
      <p:sp>
        <p:nvSpPr>
          <p:cNvPr name="Freeform 19" id="19"/>
          <p:cNvSpPr/>
          <p:nvPr/>
        </p:nvSpPr>
        <p:spPr>
          <a:xfrm flipH="false" flipV="false" rot="0">
            <a:off x="10686068" y="6285782"/>
            <a:ext cx="6290749" cy="1830235"/>
          </a:xfrm>
          <a:custGeom>
            <a:avLst/>
            <a:gdLst/>
            <a:ahLst/>
            <a:cxnLst/>
            <a:rect r="r" b="b" t="t" l="l"/>
            <a:pathLst>
              <a:path h="1830235" w="6290749">
                <a:moveTo>
                  <a:pt x="0" y="0"/>
                </a:moveTo>
                <a:lnTo>
                  <a:pt x="6290749" y="0"/>
                </a:lnTo>
                <a:lnTo>
                  <a:pt x="6290749" y="1830236"/>
                </a:lnTo>
                <a:lnTo>
                  <a:pt x="0" y="1830236"/>
                </a:lnTo>
                <a:lnTo>
                  <a:pt x="0" y="0"/>
                </a:lnTo>
                <a:close/>
              </a:path>
            </a:pathLst>
          </a:custGeom>
          <a:blipFill>
            <a:blip r:embed="rId10"/>
            <a:stretch>
              <a:fillRect l="0" t="0" r="0" b="0"/>
            </a:stretch>
          </a:blipFill>
        </p:spPr>
      </p:sp>
      <p:sp>
        <p:nvSpPr>
          <p:cNvPr name="TextBox 20" id="20"/>
          <p:cNvSpPr txBox="true"/>
          <p:nvPr/>
        </p:nvSpPr>
        <p:spPr>
          <a:xfrm rot="0">
            <a:off x="1149700" y="8136106"/>
            <a:ext cx="9253886" cy="1363675"/>
          </a:xfrm>
          <a:prstGeom prst="rect">
            <a:avLst/>
          </a:prstGeom>
        </p:spPr>
        <p:txBody>
          <a:bodyPr anchor="t" rtlCol="false" tIns="0" lIns="0" bIns="0" rIns="0">
            <a:spAutoFit/>
          </a:bodyPr>
          <a:lstStyle/>
          <a:p>
            <a:pPr algn="l">
              <a:lnSpc>
                <a:spcPts val="10188"/>
              </a:lnSpc>
            </a:pPr>
            <a:r>
              <a:rPr lang="en-US" sz="10724" i="true" spc="-428">
                <a:solidFill>
                  <a:srgbClr val="8AB2A6"/>
                </a:solidFill>
                <a:latin typeface="Anton Italics"/>
                <a:ea typeface="Anton Italics"/>
                <a:cs typeface="Anton Italics"/>
                <a:sym typeface="Anton Italics"/>
              </a:rPr>
              <a:t>EJECUCIÓN</a:t>
            </a:r>
          </a:p>
        </p:txBody>
      </p:sp>
      <p:sp>
        <p:nvSpPr>
          <p:cNvPr name="TextBox 21" id="21"/>
          <p:cNvSpPr txBox="true"/>
          <p:nvPr/>
        </p:nvSpPr>
        <p:spPr>
          <a:xfrm rot="0">
            <a:off x="1449058" y="1488038"/>
            <a:ext cx="2805620" cy="1676400"/>
          </a:xfrm>
          <a:prstGeom prst="rect">
            <a:avLst/>
          </a:prstGeom>
        </p:spPr>
        <p:txBody>
          <a:bodyPr anchor="t" rtlCol="false" tIns="0" lIns="0" bIns="0" rIns="0">
            <a:spAutoFit/>
          </a:bodyPr>
          <a:lstStyle/>
          <a:p>
            <a:pPr algn="just">
              <a:lnSpc>
                <a:spcPts val="1919"/>
              </a:lnSpc>
            </a:pPr>
            <a:r>
              <a:rPr lang="en-US" sz="1599" spc="-31">
                <a:solidFill>
                  <a:srgbClr val="FFFFFF"/>
                </a:solidFill>
                <a:latin typeface="Open Sauce"/>
                <a:ea typeface="Open Sauce"/>
                <a:cs typeface="Open Sauce"/>
                <a:sym typeface="Open Sauce"/>
              </a:rPr>
              <a:t>Obtener la Ruta: En el explorador de archivos de VS Code (a la izquierda), haz clic derecho sobre la carpeta donde están tus archivos y selecciona "Copiar ruta de acceso".</a:t>
            </a:r>
          </a:p>
        </p:txBody>
      </p:sp>
      <p:sp>
        <p:nvSpPr>
          <p:cNvPr name="TextBox 22" id="22"/>
          <p:cNvSpPr txBox="true"/>
          <p:nvPr/>
        </p:nvSpPr>
        <p:spPr>
          <a:xfrm rot="0">
            <a:off x="4933593" y="2294615"/>
            <a:ext cx="2805620" cy="1676400"/>
          </a:xfrm>
          <a:prstGeom prst="rect">
            <a:avLst/>
          </a:prstGeom>
        </p:spPr>
        <p:txBody>
          <a:bodyPr anchor="t" rtlCol="false" tIns="0" lIns="0" bIns="0" rIns="0">
            <a:spAutoFit/>
          </a:bodyPr>
          <a:lstStyle/>
          <a:p>
            <a:pPr algn="just">
              <a:lnSpc>
                <a:spcPts val="1919"/>
              </a:lnSpc>
            </a:pPr>
            <a:r>
              <a:rPr lang="en-US" sz="1599" spc="-31">
                <a:solidFill>
                  <a:srgbClr val="FFFFFF"/>
                </a:solidFill>
                <a:latin typeface="Open Sauce"/>
                <a:ea typeface="Open Sauce"/>
                <a:cs typeface="Open Sauce"/>
                <a:sym typeface="Open Sauce"/>
              </a:rPr>
              <a:t>Comando de Navegación: En la terminal, escribe cd (que significa change directory), presiona la barra espaciadora, abre comillas ", pega la ruta que copiaste y cierra comillas ".</a:t>
            </a:r>
          </a:p>
        </p:txBody>
      </p:sp>
      <p:sp>
        <p:nvSpPr>
          <p:cNvPr name="TextBox 23" id="23"/>
          <p:cNvSpPr txBox="true"/>
          <p:nvPr/>
        </p:nvSpPr>
        <p:spPr>
          <a:xfrm rot="0">
            <a:off x="1449058" y="4076700"/>
            <a:ext cx="2805620" cy="1676400"/>
          </a:xfrm>
          <a:prstGeom prst="rect">
            <a:avLst/>
          </a:prstGeom>
        </p:spPr>
        <p:txBody>
          <a:bodyPr anchor="t" rtlCol="false" tIns="0" lIns="0" bIns="0" rIns="0">
            <a:spAutoFit/>
          </a:bodyPr>
          <a:lstStyle/>
          <a:p>
            <a:pPr algn="just">
              <a:lnSpc>
                <a:spcPts val="1919"/>
              </a:lnSpc>
              <a:spcBef>
                <a:spcPct val="0"/>
              </a:spcBef>
            </a:pPr>
            <a:r>
              <a:rPr lang="en-US" sz="1599" spc="-31">
                <a:solidFill>
                  <a:srgbClr val="FFFFFF"/>
                </a:solidFill>
                <a:latin typeface="Open Sauce"/>
                <a:ea typeface="Open Sauce"/>
                <a:cs typeface="Open Sauce"/>
                <a:sym typeface="Open Sauce"/>
              </a:rPr>
              <a:t>Carga del Intérprete: Escribiremos el comando ghci main.hs para iniciar el entorno interactivo de Haskell y cargar todos los módulos y funciones definidos en el código.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707979" y="4833013"/>
            <a:ext cx="4631756" cy="4425287"/>
            <a:chOff x="0" y="0"/>
            <a:chExt cx="769616" cy="735307"/>
          </a:xfrm>
        </p:grpSpPr>
        <p:sp>
          <p:nvSpPr>
            <p:cNvPr name="Freeform 4" id="4"/>
            <p:cNvSpPr/>
            <p:nvPr/>
          </p:nvSpPr>
          <p:spPr>
            <a:xfrm flipH="false" flipV="false" rot="0">
              <a:off x="0" y="0"/>
              <a:ext cx="769616" cy="735307"/>
            </a:xfrm>
            <a:custGeom>
              <a:avLst/>
              <a:gdLst/>
              <a:ahLst/>
              <a:cxnLst/>
              <a:rect r="r" b="b" t="t" l="l"/>
              <a:pathLst>
                <a:path h="735307" w="769616">
                  <a:moveTo>
                    <a:pt x="769616" y="85246"/>
                  </a:moveTo>
                  <a:lnTo>
                    <a:pt x="769616" y="650062"/>
                  </a:lnTo>
                  <a:cubicBezTo>
                    <a:pt x="769616" y="697142"/>
                    <a:pt x="731450" y="735307"/>
                    <a:pt x="684370" y="735307"/>
                  </a:cubicBezTo>
                  <a:lnTo>
                    <a:pt x="85246" y="735307"/>
                  </a:lnTo>
                  <a:cubicBezTo>
                    <a:pt x="38166" y="735307"/>
                    <a:pt x="0" y="697142"/>
                    <a:pt x="0" y="650062"/>
                  </a:cubicBezTo>
                  <a:lnTo>
                    <a:pt x="0" y="85246"/>
                  </a:lnTo>
                  <a:cubicBezTo>
                    <a:pt x="0" y="38166"/>
                    <a:pt x="38166" y="0"/>
                    <a:pt x="85246" y="0"/>
                  </a:cubicBezTo>
                  <a:lnTo>
                    <a:pt x="684370" y="0"/>
                  </a:lnTo>
                  <a:cubicBezTo>
                    <a:pt x="731450" y="0"/>
                    <a:pt x="769616" y="38166"/>
                    <a:pt x="769616" y="85246"/>
                  </a:cubicBezTo>
                  <a:close/>
                </a:path>
              </a:pathLst>
            </a:custGeom>
            <a:solidFill>
              <a:srgbClr val="000000">
                <a:alpha val="0"/>
              </a:srgbClr>
            </a:solidFill>
            <a:ln w="19050" cap="rnd">
              <a:solidFill>
                <a:srgbClr val="8AB2A6"/>
              </a:solidFill>
              <a:prstDash val="solid"/>
              <a:round/>
            </a:ln>
          </p:spPr>
        </p:sp>
        <p:sp>
          <p:nvSpPr>
            <p:cNvPr name="TextBox 5" id="5"/>
            <p:cNvSpPr txBox="true"/>
            <p:nvPr/>
          </p:nvSpPr>
          <p:spPr>
            <a:xfrm>
              <a:off x="0" y="0"/>
              <a:ext cx="769616" cy="735307"/>
            </a:xfrm>
            <a:prstGeom prst="rect">
              <a:avLst/>
            </a:prstGeom>
          </p:spPr>
          <p:txBody>
            <a:bodyPr anchor="ctr" rtlCol="false" tIns="50800" lIns="50800" bIns="50800" rIns="50800"/>
            <a:lstStyle/>
            <a:p>
              <a:pPr algn="ctr">
                <a:lnSpc>
                  <a:spcPts val="1680"/>
                </a:lnSpc>
              </a:pPr>
            </a:p>
          </p:txBody>
        </p:sp>
      </p:grpSp>
      <p:grpSp>
        <p:nvGrpSpPr>
          <p:cNvPr name="Group 6" id="6"/>
          <p:cNvGrpSpPr/>
          <p:nvPr/>
        </p:nvGrpSpPr>
        <p:grpSpPr>
          <a:xfrm rot="0">
            <a:off x="0" y="6994790"/>
            <a:ext cx="3298345" cy="2263510"/>
            <a:chOff x="0" y="0"/>
            <a:chExt cx="868700" cy="596151"/>
          </a:xfrm>
        </p:grpSpPr>
        <p:sp>
          <p:nvSpPr>
            <p:cNvPr name="Freeform 7" id="7"/>
            <p:cNvSpPr/>
            <p:nvPr/>
          </p:nvSpPr>
          <p:spPr>
            <a:xfrm flipH="false" flipV="false" rot="0">
              <a:off x="0" y="0"/>
              <a:ext cx="868700" cy="596151"/>
            </a:xfrm>
            <a:custGeom>
              <a:avLst/>
              <a:gdLst/>
              <a:ahLst/>
              <a:cxnLst/>
              <a:rect r="r" b="b" t="t" l="l"/>
              <a:pathLst>
                <a:path h="596151" w="868700">
                  <a:moveTo>
                    <a:pt x="0" y="0"/>
                  </a:moveTo>
                  <a:lnTo>
                    <a:pt x="868700" y="0"/>
                  </a:lnTo>
                  <a:lnTo>
                    <a:pt x="868700" y="596151"/>
                  </a:lnTo>
                  <a:lnTo>
                    <a:pt x="0" y="596151"/>
                  </a:lnTo>
                  <a:close/>
                </a:path>
              </a:pathLst>
            </a:custGeom>
            <a:gradFill rotWithShape="true">
              <a:gsLst>
                <a:gs pos="0">
                  <a:srgbClr val="3E9D81">
                    <a:alpha val="100000"/>
                  </a:srgbClr>
                </a:gs>
                <a:gs pos="100000">
                  <a:srgbClr val="3E9D81">
                    <a:alpha val="0"/>
                  </a:srgbClr>
                </a:gs>
              </a:gsLst>
              <a:lin ang="0"/>
            </a:gradFill>
          </p:spPr>
        </p:sp>
        <p:sp>
          <p:nvSpPr>
            <p:cNvPr name="TextBox 8" id="8"/>
            <p:cNvSpPr txBox="true"/>
            <p:nvPr/>
          </p:nvSpPr>
          <p:spPr>
            <a:xfrm>
              <a:off x="0" y="-28575"/>
              <a:ext cx="868700" cy="624726"/>
            </a:xfrm>
            <a:prstGeom prst="rect">
              <a:avLst/>
            </a:prstGeom>
          </p:spPr>
          <p:txBody>
            <a:bodyPr anchor="ctr" rtlCol="false" tIns="50800" lIns="50800" bIns="50800" rIns="50800"/>
            <a:lstStyle/>
            <a:p>
              <a:pPr algn="ctr">
                <a:lnSpc>
                  <a:spcPts val="1960"/>
                </a:lnSpc>
              </a:pPr>
            </a:p>
          </p:txBody>
        </p:sp>
      </p:grpSp>
      <p:sp>
        <p:nvSpPr>
          <p:cNvPr name="Freeform 9" id="9"/>
          <p:cNvSpPr/>
          <p:nvPr/>
        </p:nvSpPr>
        <p:spPr>
          <a:xfrm flipH="false" flipV="false" rot="0">
            <a:off x="7173434" y="8100248"/>
            <a:ext cx="726809" cy="726809"/>
          </a:xfrm>
          <a:custGeom>
            <a:avLst/>
            <a:gdLst/>
            <a:ahLst/>
            <a:cxnLst/>
            <a:rect r="r" b="b" t="t" l="l"/>
            <a:pathLst>
              <a:path h="726809" w="726809">
                <a:moveTo>
                  <a:pt x="0" y="0"/>
                </a:moveTo>
                <a:lnTo>
                  <a:pt x="726808" y="0"/>
                </a:lnTo>
                <a:lnTo>
                  <a:pt x="726808"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867752" y="1341176"/>
            <a:ext cx="9132427" cy="5000004"/>
          </a:xfrm>
          <a:custGeom>
            <a:avLst/>
            <a:gdLst/>
            <a:ahLst/>
            <a:cxnLst/>
            <a:rect r="r" b="b" t="t" l="l"/>
            <a:pathLst>
              <a:path h="5000004" w="9132427">
                <a:moveTo>
                  <a:pt x="0" y="0"/>
                </a:moveTo>
                <a:lnTo>
                  <a:pt x="9132427" y="0"/>
                </a:lnTo>
                <a:lnTo>
                  <a:pt x="9132427" y="5000004"/>
                </a:lnTo>
                <a:lnTo>
                  <a:pt x="0" y="5000004"/>
                </a:lnTo>
                <a:lnTo>
                  <a:pt x="0" y="0"/>
                </a:lnTo>
                <a:close/>
              </a:path>
            </a:pathLst>
          </a:custGeom>
          <a:blipFill>
            <a:blip r:embed="rId5"/>
            <a:stretch>
              <a:fillRect l="0" t="0" r="0" b="0"/>
            </a:stretch>
          </a:blipFill>
        </p:spPr>
      </p:sp>
      <p:sp>
        <p:nvSpPr>
          <p:cNvPr name="TextBox 11" id="11"/>
          <p:cNvSpPr txBox="true"/>
          <p:nvPr/>
        </p:nvSpPr>
        <p:spPr>
          <a:xfrm rot="0">
            <a:off x="9144000" y="7016530"/>
            <a:ext cx="9144000" cy="1236713"/>
          </a:xfrm>
          <a:prstGeom prst="rect">
            <a:avLst/>
          </a:prstGeom>
        </p:spPr>
        <p:txBody>
          <a:bodyPr anchor="t" rtlCol="false" tIns="0" lIns="0" bIns="0" rIns="0">
            <a:spAutoFit/>
          </a:bodyPr>
          <a:lstStyle/>
          <a:p>
            <a:pPr algn="l">
              <a:lnSpc>
                <a:spcPts val="9157"/>
              </a:lnSpc>
            </a:pPr>
            <a:r>
              <a:rPr lang="en-US" sz="9639" i="true" spc="-385">
                <a:solidFill>
                  <a:srgbClr val="8AB2A6"/>
                </a:solidFill>
                <a:latin typeface="Anton Italics"/>
                <a:ea typeface="Anton Italics"/>
                <a:cs typeface="Anton Italics"/>
                <a:sym typeface="Anton Italics"/>
              </a:rPr>
              <a:t>EJECUCIÓN FINAL</a:t>
            </a:r>
          </a:p>
        </p:txBody>
      </p:sp>
      <p:sp>
        <p:nvSpPr>
          <p:cNvPr name="TextBox 12" id="12"/>
          <p:cNvSpPr txBox="true"/>
          <p:nvPr/>
        </p:nvSpPr>
        <p:spPr>
          <a:xfrm rot="0">
            <a:off x="11482969" y="2731515"/>
            <a:ext cx="4900080" cy="2209800"/>
          </a:xfrm>
          <a:prstGeom prst="rect">
            <a:avLst/>
          </a:prstGeom>
        </p:spPr>
        <p:txBody>
          <a:bodyPr anchor="t" rtlCol="false" tIns="0" lIns="0" bIns="0" rIns="0">
            <a:spAutoFit/>
          </a:bodyPr>
          <a:lstStyle/>
          <a:p>
            <a:pPr algn="just">
              <a:lnSpc>
                <a:spcPts val="2521"/>
              </a:lnSpc>
              <a:spcBef>
                <a:spcPct val="0"/>
              </a:spcBef>
            </a:pPr>
            <a:r>
              <a:rPr lang="en-US" sz="2101" spc="-42">
                <a:solidFill>
                  <a:srgbClr val="FFFFFF"/>
                </a:solidFill>
                <a:latin typeface="Open Sauce"/>
                <a:ea typeface="Open Sauce"/>
                <a:cs typeface="Open Sauce"/>
                <a:sym typeface="Open Sauce"/>
              </a:rPr>
              <a:t>Finalización y Verificación: El sistema ejecutará el flujo de coordinación, procesando los datos mediante lambdas y mapas, para finalmente guardar los resultados en el archivo results.txt y mostrar un mensaje de confirmación en la consola.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13318780" y="6519683"/>
            <a:ext cx="1702841" cy="5831793"/>
            <a:chOff x="0" y="0"/>
            <a:chExt cx="448485" cy="1535945"/>
          </a:xfrm>
        </p:grpSpPr>
        <p:sp>
          <p:nvSpPr>
            <p:cNvPr name="Freeform 4" id="4"/>
            <p:cNvSpPr/>
            <p:nvPr/>
          </p:nvSpPr>
          <p:spPr>
            <a:xfrm flipH="false" flipV="false" rot="0">
              <a:off x="0" y="0"/>
              <a:ext cx="448485" cy="1535945"/>
            </a:xfrm>
            <a:custGeom>
              <a:avLst/>
              <a:gdLst/>
              <a:ahLst/>
              <a:cxnLst/>
              <a:rect r="r" b="b" t="t" l="l"/>
              <a:pathLst>
                <a:path h="1535945" w="448485">
                  <a:moveTo>
                    <a:pt x="0" y="0"/>
                  </a:moveTo>
                  <a:lnTo>
                    <a:pt x="448485" y="0"/>
                  </a:lnTo>
                  <a:lnTo>
                    <a:pt x="448485" y="1535945"/>
                  </a:lnTo>
                  <a:lnTo>
                    <a:pt x="0" y="1535945"/>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448485" cy="156452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9768705" y="4134874"/>
            <a:ext cx="7317392" cy="2783141"/>
            <a:chOff x="0" y="0"/>
            <a:chExt cx="1215862" cy="462448"/>
          </a:xfrm>
        </p:grpSpPr>
        <p:sp>
          <p:nvSpPr>
            <p:cNvPr name="Freeform 7" id="7"/>
            <p:cNvSpPr/>
            <p:nvPr/>
          </p:nvSpPr>
          <p:spPr>
            <a:xfrm flipH="false" flipV="false" rot="0">
              <a:off x="0" y="0"/>
              <a:ext cx="1215862" cy="462448"/>
            </a:xfrm>
            <a:custGeom>
              <a:avLst/>
              <a:gdLst/>
              <a:ahLst/>
              <a:cxnLst/>
              <a:rect r="r" b="b" t="t" l="l"/>
              <a:pathLst>
                <a:path h="462448" w="1215862">
                  <a:moveTo>
                    <a:pt x="1215862" y="53959"/>
                  </a:moveTo>
                  <a:lnTo>
                    <a:pt x="1215862" y="408489"/>
                  </a:lnTo>
                  <a:cubicBezTo>
                    <a:pt x="1215862" y="422800"/>
                    <a:pt x="1210177" y="436524"/>
                    <a:pt x="1200058" y="446644"/>
                  </a:cubicBezTo>
                  <a:cubicBezTo>
                    <a:pt x="1189939" y="456763"/>
                    <a:pt x="1176214" y="462448"/>
                    <a:pt x="1161904" y="462448"/>
                  </a:cubicBezTo>
                  <a:lnTo>
                    <a:pt x="53959" y="462448"/>
                  </a:lnTo>
                  <a:cubicBezTo>
                    <a:pt x="39648" y="462448"/>
                    <a:pt x="25923" y="456763"/>
                    <a:pt x="15804" y="446644"/>
                  </a:cubicBezTo>
                  <a:cubicBezTo>
                    <a:pt x="5685" y="436524"/>
                    <a:pt x="0" y="422800"/>
                    <a:pt x="0" y="408489"/>
                  </a:cubicBezTo>
                  <a:lnTo>
                    <a:pt x="0" y="53959"/>
                  </a:lnTo>
                  <a:cubicBezTo>
                    <a:pt x="0" y="39648"/>
                    <a:pt x="5685" y="25923"/>
                    <a:pt x="15804" y="15804"/>
                  </a:cubicBezTo>
                  <a:cubicBezTo>
                    <a:pt x="25923" y="5685"/>
                    <a:pt x="39648" y="0"/>
                    <a:pt x="53959" y="0"/>
                  </a:cubicBezTo>
                  <a:lnTo>
                    <a:pt x="1161904" y="0"/>
                  </a:lnTo>
                  <a:cubicBezTo>
                    <a:pt x="1176214" y="0"/>
                    <a:pt x="1189939" y="5685"/>
                    <a:pt x="1200058" y="15804"/>
                  </a:cubicBezTo>
                  <a:cubicBezTo>
                    <a:pt x="1210177" y="25923"/>
                    <a:pt x="1215862" y="39648"/>
                    <a:pt x="1215862" y="53959"/>
                  </a:cubicBezTo>
                  <a:close/>
                </a:path>
              </a:pathLst>
            </a:custGeom>
            <a:solidFill>
              <a:srgbClr val="000000">
                <a:alpha val="0"/>
              </a:srgbClr>
            </a:solidFill>
            <a:ln w="19050" cap="rnd">
              <a:solidFill>
                <a:srgbClr val="8AB2A6"/>
              </a:solidFill>
              <a:prstDash val="solid"/>
              <a:round/>
            </a:ln>
          </p:spPr>
        </p:sp>
        <p:sp>
          <p:nvSpPr>
            <p:cNvPr name="TextBox 8" id="8"/>
            <p:cNvSpPr txBox="true"/>
            <p:nvPr/>
          </p:nvSpPr>
          <p:spPr>
            <a:xfrm>
              <a:off x="0" y="0"/>
              <a:ext cx="1215862" cy="462448"/>
            </a:xfrm>
            <a:prstGeom prst="rect">
              <a:avLst/>
            </a:prstGeom>
          </p:spPr>
          <p:txBody>
            <a:bodyPr anchor="ctr" rtlCol="false" tIns="50800" lIns="50800" bIns="50800" rIns="50800"/>
            <a:lstStyle/>
            <a:p>
              <a:pPr algn="ctr">
                <a:lnSpc>
                  <a:spcPts val="1680"/>
                </a:lnSpc>
              </a:pPr>
            </a:p>
          </p:txBody>
        </p:sp>
      </p:grpSp>
      <p:grpSp>
        <p:nvGrpSpPr>
          <p:cNvPr name="Group 9" id="9"/>
          <p:cNvGrpSpPr/>
          <p:nvPr/>
        </p:nvGrpSpPr>
        <p:grpSpPr>
          <a:xfrm rot="0">
            <a:off x="1403354" y="407619"/>
            <a:ext cx="6602262" cy="3554051"/>
            <a:chOff x="0" y="0"/>
            <a:chExt cx="868755" cy="467657"/>
          </a:xfrm>
        </p:grpSpPr>
        <p:sp>
          <p:nvSpPr>
            <p:cNvPr name="Freeform 10" id="10"/>
            <p:cNvSpPr/>
            <p:nvPr/>
          </p:nvSpPr>
          <p:spPr>
            <a:xfrm flipH="false" flipV="false" rot="0">
              <a:off x="0" y="0"/>
              <a:ext cx="868755" cy="467657"/>
            </a:xfrm>
            <a:custGeom>
              <a:avLst/>
              <a:gdLst/>
              <a:ahLst/>
              <a:cxnLst/>
              <a:rect r="r" b="b" t="t" l="l"/>
              <a:pathLst>
                <a:path h="467657" w="868755">
                  <a:moveTo>
                    <a:pt x="868755" y="59803"/>
                  </a:moveTo>
                  <a:lnTo>
                    <a:pt x="868755" y="407854"/>
                  </a:lnTo>
                  <a:cubicBezTo>
                    <a:pt x="868755" y="440882"/>
                    <a:pt x="841980" y="467657"/>
                    <a:pt x="808951" y="467657"/>
                  </a:cubicBezTo>
                  <a:lnTo>
                    <a:pt x="59803" y="467657"/>
                  </a:lnTo>
                  <a:cubicBezTo>
                    <a:pt x="43943" y="467657"/>
                    <a:pt x="28731" y="461356"/>
                    <a:pt x="17516" y="450141"/>
                  </a:cubicBezTo>
                  <a:cubicBezTo>
                    <a:pt x="6301" y="438926"/>
                    <a:pt x="0" y="423715"/>
                    <a:pt x="0" y="407854"/>
                  </a:cubicBezTo>
                  <a:lnTo>
                    <a:pt x="0" y="59803"/>
                  </a:lnTo>
                  <a:cubicBezTo>
                    <a:pt x="0" y="43943"/>
                    <a:pt x="6301" y="28731"/>
                    <a:pt x="17516" y="17516"/>
                  </a:cubicBezTo>
                  <a:cubicBezTo>
                    <a:pt x="28731" y="6301"/>
                    <a:pt x="43943" y="0"/>
                    <a:pt x="59803" y="0"/>
                  </a:cubicBezTo>
                  <a:lnTo>
                    <a:pt x="808951" y="0"/>
                  </a:lnTo>
                  <a:cubicBezTo>
                    <a:pt x="824812" y="0"/>
                    <a:pt x="840024" y="6301"/>
                    <a:pt x="851239" y="17516"/>
                  </a:cubicBezTo>
                  <a:cubicBezTo>
                    <a:pt x="862454" y="28731"/>
                    <a:pt x="868755" y="43943"/>
                    <a:pt x="868755" y="59803"/>
                  </a:cubicBezTo>
                  <a:close/>
                </a:path>
              </a:pathLst>
            </a:custGeom>
            <a:solidFill>
              <a:srgbClr val="000000">
                <a:alpha val="0"/>
              </a:srgbClr>
            </a:solidFill>
            <a:ln w="19050" cap="rnd">
              <a:solidFill>
                <a:srgbClr val="8AB2A6"/>
              </a:solidFill>
              <a:prstDash val="solid"/>
              <a:round/>
            </a:ln>
          </p:spPr>
        </p:sp>
        <p:sp>
          <p:nvSpPr>
            <p:cNvPr name="TextBox 11" id="11"/>
            <p:cNvSpPr txBox="true"/>
            <p:nvPr/>
          </p:nvSpPr>
          <p:spPr>
            <a:xfrm>
              <a:off x="0" y="0"/>
              <a:ext cx="868755" cy="467657"/>
            </a:xfrm>
            <a:prstGeom prst="rect">
              <a:avLst/>
            </a:prstGeom>
          </p:spPr>
          <p:txBody>
            <a:bodyPr anchor="ctr" rtlCol="false" tIns="50800" lIns="50800" bIns="50800" rIns="50800"/>
            <a:lstStyle/>
            <a:p>
              <a:pPr algn="ctr">
                <a:lnSpc>
                  <a:spcPts val="1680"/>
                </a:lnSpc>
              </a:pPr>
            </a:p>
          </p:txBody>
        </p:sp>
      </p:grpSp>
      <p:sp>
        <p:nvSpPr>
          <p:cNvPr name="Freeform 12" id="12"/>
          <p:cNvSpPr/>
          <p:nvPr/>
        </p:nvSpPr>
        <p:spPr>
          <a:xfrm flipH="false" flipV="false" rot="0">
            <a:off x="1645590" y="645890"/>
            <a:ext cx="6117790" cy="3077509"/>
          </a:xfrm>
          <a:custGeom>
            <a:avLst/>
            <a:gdLst/>
            <a:ahLst/>
            <a:cxnLst/>
            <a:rect r="r" b="b" t="t" l="l"/>
            <a:pathLst>
              <a:path h="3077509" w="6117790">
                <a:moveTo>
                  <a:pt x="0" y="0"/>
                </a:moveTo>
                <a:lnTo>
                  <a:pt x="6117790" y="0"/>
                </a:lnTo>
                <a:lnTo>
                  <a:pt x="6117790" y="3077509"/>
                </a:lnTo>
                <a:lnTo>
                  <a:pt x="0" y="3077509"/>
                </a:lnTo>
                <a:lnTo>
                  <a:pt x="0" y="0"/>
                </a:lnTo>
                <a:close/>
              </a:path>
            </a:pathLst>
          </a:custGeom>
          <a:blipFill>
            <a:blip r:embed="rId3"/>
            <a:stretch>
              <a:fillRect l="0" t="0" r="0" b="0"/>
            </a:stretch>
          </a:blipFill>
        </p:spPr>
      </p:sp>
      <p:sp>
        <p:nvSpPr>
          <p:cNvPr name="Freeform 13" id="13"/>
          <p:cNvSpPr/>
          <p:nvPr/>
        </p:nvSpPr>
        <p:spPr>
          <a:xfrm flipH="false" flipV="false" rot="0">
            <a:off x="9961382" y="4379855"/>
            <a:ext cx="6915206" cy="2280931"/>
          </a:xfrm>
          <a:custGeom>
            <a:avLst/>
            <a:gdLst/>
            <a:ahLst/>
            <a:cxnLst/>
            <a:rect r="r" b="b" t="t" l="l"/>
            <a:pathLst>
              <a:path h="2280931" w="6915206">
                <a:moveTo>
                  <a:pt x="0" y="0"/>
                </a:moveTo>
                <a:lnTo>
                  <a:pt x="6915206" y="0"/>
                </a:lnTo>
                <a:lnTo>
                  <a:pt x="6915206" y="2280931"/>
                </a:lnTo>
                <a:lnTo>
                  <a:pt x="0" y="2280931"/>
                </a:lnTo>
                <a:lnTo>
                  <a:pt x="0" y="0"/>
                </a:lnTo>
                <a:close/>
              </a:path>
            </a:pathLst>
          </a:custGeom>
          <a:blipFill>
            <a:blip r:embed="rId4"/>
            <a:stretch>
              <a:fillRect l="0" t="0" r="-8614" b="0"/>
            </a:stretch>
          </a:blipFill>
        </p:spPr>
      </p:sp>
      <p:sp>
        <p:nvSpPr>
          <p:cNvPr name="Freeform 14" id="14"/>
          <p:cNvSpPr/>
          <p:nvPr/>
        </p:nvSpPr>
        <p:spPr>
          <a:xfrm flipH="false" flipV="false" rot="3696441">
            <a:off x="341132" y="2566644"/>
            <a:ext cx="2183801" cy="1663659"/>
          </a:xfrm>
          <a:custGeom>
            <a:avLst/>
            <a:gdLst/>
            <a:ahLst/>
            <a:cxnLst/>
            <a:rect r="r" b="b" t="t" l="l"/>
            <a:pathLst>
              <a:path h="1663659" w="2183801">
                <a:moveTo>
                  <a:pt x="0" y="0"/>
                </a:moveTo>
                <a:lnTo>
                  <a:pt x="2183801" y="0"/>
                </a:lnTo>
                <a:lnTo>
                  <a:pt x="2183801" y="1663659"/>
                </a:lnTo>
                <a:lnTo>
                  <a:pt x="0" y="16636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5976087">
            <a:off x="9964532" y="3388513"/>
            <a:ext cx="1269713" cy="669774"/>
          </a:xfrm>
          <a:custGeom>
            <a:avLst/>
            <a:gdLst/>
            <a:ahLst/>
            <a:cxnLst/>
            <a:rect r="r" b="b" t="t" l="l"/>
            <a:pathLst>
              <a:path h="669774" w="1269713">
                <a:moveTo>
                  <a:pt x="0" y="0"/>
                </a:moveTo>
                <a:lnTo>
                  <a:pt x="1269713" y="0"/>
                </a:lnTo>
                <a:lnTo>
                  <a:pt x="1269713" y="669773"/>
                </a:lnTo>
                <a:lnTo>
                  <a:pt x="0" y="669773"/>
                </a:lnTo>
                <a:lnTo>
                  <a:pt x="0" y="0"/>
                </a:lnTo>
                <a:close/>
              </a:path>
            </a:pathLst>
          </a:custGeom>
          <a:blipFill>
            <a:blip r:embed="rId7"/>
            <a:stretch>
              <a:fillRect l="0" t="0" r="0" b="0"/>
            </a:stretch>
          </a:blipFill>
        </p:spPr>
      </p:sp>
      <p:sp>
        <p:nvSpPr>
          <p:cNvPr name="TextBox 16" id="16"/>
          <p:cNvSpPr txBox="true"/>
          <p:nvPr/>
        </p:nvSpPr>
        <p:spPr>
          <a:xfrm rot="0">
            <a:off x="11651831" y="7389808"/>
            <a:ext cx="10398807" cy="1234222"/>
          </a:xfrm>
          <a:prstGeom prst="rect">
            <a:avLst/>
          </a:prstGeom>
        </p:spPr>
        <p:txBody>
          <a:bodyPr anchor="t" rtlCol="false" tIns="0" lIns="0" bIns="0" rIns="0">
            <a:spAutoFit/>
          </a:bodyPr>
          <a:lstStyle/>
          <a:p>
            <a:pPr algn="l">
              <a:lnSpc>
                <a:spcPts val="9141"/>
              </a:lnSpc>
            </a:pPr>
            <a:r>
              <a:rPr lang="en-US" sz="9622" i="true" spc="-384">
                <a:solidFill>
                  <a:srgbClr val="8AB2A6"/>
                </a:solidFill>
                <a:latin typeface="Anton Italics"/>
                <a:ea typeface="Anton Italics"/>
                <a:cs typeface="Anton Italics"/>
                <a:sym typeface="Anton Italics"/>
              </a:rPr>
              <a:t>EXPLICACIÓN</a:t>
            </a:r>
          </a:p>
        </p:txBody>
      </p:sp>
      <p:sp>
        <p:nvSpPr>
          <p:cNvPr name="TextBox 17" id="17"/>
          <p:cNvSpPr txBox="true"/>
          <p:nvPr/>
        </p:nvSpPr>
        <p:spPr>
          <a:xfrm rot="0">
            <a:off x="13142356" y="9121744"/>
            <a:ext cx="1631625" cy="627671"/>
          </a:xfrm>
          <a:prstGeom prst="rect">
            <a:avLst/>
          </a:prstGeom>
        </p:spPr>
        <p:txBody>
          <a:bodyPr anchor="t" rtlCol="false" tIns="0" lIns="0" bIns="0" rIns="0">
            <a:spAutoFit/>
          </a:bodyPr>
          <a:lstStyle/>
          <a:p>
            <a:pPr algn="l">
              <a:lnSpc>
                <a:spcPts val="4962"/>
              </a:lnSpc>
            </a:pPr>
            <a:r>
              <a:rPr lang="en-US" sz="4135" i="true" spc="-82">
                <a:solidFill>
                  <a:srgbClr val="FFFFFF"/>
                </a:solidFill>
                <a:latin typeface="Anton Italics"/>
                <a:ea typeface="Anton Italics"/>
                <a:cs typeface="Anton Italics"/>
                <a:sym typeface="Anton Italics"/>
              </a:rPr>
              <a:t>MAIN.HS</a:t>
            </a:r>
          </a:p>
        </p:txBody>
      </p:sp>
      <p:sp>
        <p:nvSpPr>
          <p:cNvPr name="TextBox 18" id="18"/>
          <p:cNvSpPr txBox="true"/>
          <p:nvPr/>
        </p:nvSpPr>
        <p:spPr>
          <a:xfrm rot="0">
            <a:off x="1403354" y="4724400"/>
            <a:ext cx="6602262" cy="4533900"/>
          </a:xfrm>
          <a:prstGeom prst="rect">
            <a:avLst/>
          </a:prstGeom>
        </p:spPr>
        <p:txBody>
          <a:bodyPr anchor="t" rtlCol="false" tIns="0" lIns="0" bIns="0" rIns="0">
            <a:spAutoFit/>
          </a:bodyPr>
          <a:lstStyle/>
          <a:p>
            <a:pPr algn="l">
              <a:lnSpc>
                <a:spcPts val="2160"/>
              </a:lnSpc>
            </a:pPr>
            <a:r>
              <a:rPr lang="en-US" sz="1800" spc="-36">
                <a:solidFill>
                  <a:srgbClr val="FFFFFF"/>
                </a:solidFill>
                <a:latin typeface="Open Sauce"/>
                <a:ea typeface="Open Sauce"/>
                <a:cs typeface="Open Sauce"/>
                <a:sym typeface="Open Sauce"/>
              </a:rPr>
              <a:t>-Importaciones: Se incluyen librerías necesarias para el manejo de listas, formatos y operaciones de entrada/salida.</a:t>
            </a:r>
          </a:p>
          <a:p>
            <a:pPr algn="l">
              <a:lnSpc>
                <a:spcPts val="2160"/>
              </a:lnSpc>
            </a:pPr>
          </a:p>
          <a:p>
            <a:pPr algn="l" marL="388620" indent="-194310" lvl="1">
              <a:lnSpc>
                <a:spcPts val="2160"/>
              </a:lnSpc>
              <a:buFont typeface="Arial"/>
              <a:buChar char="•"/>
            </a:pPr>
            <a:r>
              <a:rPr lang="en-US" sz="1800" spc="-36">
                <a:solidFill>
                  <a:srgbClr val="FFFFFF"/>
                </a:solidFill>
                <a:latin typeface="Open Sauce"/>
                <a:ea typeface="Open Sauce"/>
                <a:cs typeface="Open Sauce"/>
                <a:sym typeface="Open Sauce"/>
              </a:rPr>
              <a:t>Processing: Vincula tu módulo de lógica pura para cálculos y transformaciones.</a:t>
            </a:r>
          </a:p>
          <a:p>
            <a:pPr algn="l">
              <a:lnSpc>
                <a:spcPts val="2160"/>
              </a:lnSpc>
            </a:pPr>
          </a:p>
          <a:p>
            <a:pPr algn="l" marL="388620" indent="-194310" lvl="1">
              <a:lnSpc>
                <a:spcPts val="2160"/>
              </a:lnSpc>
              <a:buFont typeface="Arial"/>
              <a:buChar char="•"/>
            </a:pPr>
            <a:r>
              <a:rPr lang="en-US" sz="1800" spc="-36">
                <a:solidFill>
                  <a:srgbClr val="FFFFFF"/>
                </a:solidFill>
                <a:latin typeface="Open Sauce"/>
                <a:ea typeface="Open Sauce"/>
                <a:cs typeface="Open Sauce"/>
                <a:sym typeface="Open Sauce"/>
              </a:rPr>
              <a:t>System.IO: Permite leer el dataset y escribir el reporte final.</a:t>
            </a:r>
          </a:p>
          <a:p>
            <a:pPr algn="l">
              <a:lnSpc>
                <a:spcPts val="2160"/>
              </a:lnSpc>
            </a:pPr>
          </a:p>
          <a:p>
            <a:pPr algn="l" marL="388620" indent="-194310" lvl="1">
              <a:lnSpc>
                <a:spcPts val="2160"/>
              </a:lnSpc>
              <a:buFont typeface="Arial"/>
              <a:buChar char="•"/>
            </a:pPr>
            <a:r>
              <a:rPr lang="en-US" sz="1800" spc="-36">
                <a:solidFill>
                  <a:srgbClr val="FFFFFF"/>
                </a:solidFill>
                <a:latin typeface="Open Sauce"/>
                <a:ea typeface="Open Sauce"/>
                <a:cs typeface="Open Sauce"/>
                <a:sym typeface="Open Sauce"/>
              </a:rPr>
              <a:t>readMaybe e isSpace: Herramientas para validar que los datos sean números válidos y que los textos no sean solo espacios en blanco.</a:t>
            </a:r>
          </a:p>
          <a:p>
            <a:pPr algn="l">
              <a:lnSpc>
                <a:spcPts val="2160"/>
              </a:lnSpc>
            </a:pPr>
          </a:p>
          <a:p>
            <a:pPr algn="l">
              <a:lnSpc>
                <a:spcPts val="2160"/>
              </a:lnSpc>
            </a:pPr>
            <a:r>
              <a:rPr lang="en-US" sz="1800" spc="-36">
                <a:solidFill>
                  <a:srgbClr val="FFFFFF"/>
                </a:solidFill>
                <a:latin typeface="Open Sauce"/>
                <a:ea typeface="Open Sauce"/>
                <a:cs typeface="Open Sauce"/>
                <a:sym typeface="Open Sauce"/>
              </a:rPr>
              <a:t>Constantes: Se definen los valores de estandarización solicitados: longitud base (L=25) y el carácter de relleno (Pad_Char = '-').</a:t>
            </a:r>
          </a:p>
          <a:p>
            <a:pPr algn="l">
              <a:lnSpc>
                <a:spcPts val="2160"/>
              </a:lnSpc>
            </a:pPr>
          </a:p>
        </p:txBody>
      </p:sp>
      <p:sp>
        <p:nvSpPr>
          <p:cNvPr name="TextBox 19" id="19"/>
          <p:cNvSpPr txBox="true"/>
          <p:nvPr/>
        </p:nvSpPr>
        <p:spPr>
          <a:xfrm rot="0">
            <a:off x="10599389" y="1496449"/>
            <a:ext cx="5639193" cy="2133600"/>
          </a:xfrm>
          <a:prstGeom prst="rect">
            <a:avLst/>
          </a:prstGeom>
        </p:spPr>
        <p:txBody>
          <a:bodyPr anchor="t" rtlCol="false" tIns="0" lIns="0" bIns="0" rIns="0">
            <a:spAutoFit/>
          </a:bodyPr>
          <a:lstStyle/>
          <a:p>
            <a:pPr algn="l" marL="388618" indent="-194309" lvl="1">
              <a:lnSpc>
                <a:spcPts val="2159"/>
              </a:lnSpc>
              <a:buFont typeface="Arial"/>
              <a:buChar char="•"/>
            </a:pPr>
            <a:r>
              <a:rPr lang="en-US" sz="1799" spc="-35">
                <a:solidFill>
                  <a:srgbClr val="FFFFFF"/>
                </a:solidFill>
                <a:latin typeface="Open Sauce"/>
                <a:ea typeface="Open Sauce"/>
                <a:cs typeface="Open Sauce"/>
                <a:sym typeface="Open Sauce"/>
              </a:rPr>
              <a:t>¿Qué hace?: Esta función recorre cada una de las líneas del archivo CSV.</a:t>
            </a:r>
          </a:p>
          <a:p>
            <a:pPr algn="l" marL="388618" indent="-194309" lvl="1">
              <a:lnSpc>
                <a:spcPts val="2159"/>
              </a:lnSpc>
              <a:buFont typeface="Arial"/>
              <a:buChar char="•"/>
            </a:pPr>
            <a:r>
              <a:rPr lang="en-US" sz="1799" spc="-35">
                <a:solidFill>
                  <a:srgbClr val="FFFFFF"/>
                </a:solidFill>
                <a:latin typeface="Open Sauce"/>
                <a:ea typeface="Open Sauce"/>
                <a:cs typeface="Open Sauce"/>
                <a:sym typeface="Open Sauce"/>
              </a:rPr>
              <a:t>Transformación: Utiliza la coma como un delimitador para cortar el texto y extraer las palabras individuales.</a:t>
            </a:r>
          </a:p>
          <a:p>
            <a:pPr algn="l" marL="388618" indent="-194309" lvl="1">
              <a:lnSpc>
                <a:spcPts val="2159"/>
              </a:lnSpc>
              <a:buFont typeface="Arial"/>
              <a:buChar char="•"/>
            </a:pPr>
            <a:r>
              <a:rPr lang="en-US" sz="1799" spc="-35">
                <a:solidFill>
                  <a:srgbClr val="FFFFFF"/>
                </a:solidFill>
                <a:latin typeface="Open Sauce"/>
                <a:ea typeface="Open Sauce"/>
                <a:cs typeface="Open Sauce"/>
                <a:sym typeface="Open Sauce"/>
              </a:rPr>
              <a:t>Técnica: Es una función recursiva que organiza el texto plano en una lista de tipo [String].</a:t>
            </a:r>
          </a:p>
          <a:p>
            <a:pPr algn="l">
              <a:lnSpc>
                <a:spcPts val="21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4515654" y="6290232"/>
            <a:ext cx="3979774" cy="2968068"/>
            <a:chOff x="0" y="0"/>
            <a:chExt cx="1048171" cy="781713"/>
          </a:xfrm>
        </p:grpSpPr>
        <p:sp>
          <p:nvSpPr>
            <p:cNvPr name="Freeform 4" id="4"/>
            <p:cNvSpPr/>
            <p:nvPr/>
          </p:nvSpPr>
          <p:spPr>
            <a:xfrm flipH="false" flipV="false" rot="0">
              <a:off x="0" y="0"/>
              <a:ext cx="1048171" cy="781713"/>
            </a:xfrm>
            <a:custGeom>
              <a:avLst/>
              <a:gdLst/>
              <a:ahLst/>
              <a:cxnLst/>
              <a:rect r="r" b="b" t="t" l="l"/>
              <a:pathLst>
                <a:path h="781713" w="1048171">
                  <a:moveTo>
                    <a:pt x="0" y="0"/>
                  </a:moveTo>
                  <a:lnTo>
                    <a:pt x="1048171" y="0"/>
                  </a:lnTo>
                  <a:lnTo>
                    <a:pt x="1048171" y="781713"/>
                  </a:lnTo>
                  <a:lnTo>
                    <a:pt x="0" y="781713"/>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1048171" cy="810288"/>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0" y="1042193"/>
            <a:ext cx="4584772" cy="3608445"/>
            <a:chOff x="0" y="0"/>
            <a:chExt cx="1207512" cy="950372"/>
          </a:xfrm>
        </p:grpSpPr>
        <p:sp>
          <p:nvSpPr>
            <p:cNvPr name="Freeform 7" id="7"/>
            <p:cNvSpPr/>
            <p:nvPr/>
          </p:nvSpPr>
          <p:spPr>
            <a:xfrm flipH="false" flipV="false" rot="0">
              <a:off x="0" y="0"/>
              <a:ext cx="1207512" cy="950372"/>
            </a:xfrm>
            <a:custGeom>
              <a:avLst/>
              <a:gdLst/>
              <a:ahLst/>
              <a:cxnLst/>
              <a:rect r="r" b="b" t="t" l="l"/>
              <a:pathLst>
                <a:path h="950372" w="1207512">
                  <a:moveTo>
                    <a:pt x="0" y="0"/>
                  </a:moveTo>
                  <a:lnTo>
                    <a:pt x="1207512" y="0"/>
                  </a:lnTo>
                  <a:lnTo>
                    <a:pt x="1207512" y="950372"/>
                  </a:lnTo>
                  <a:lnTo>
                    <a:pt x="0" y="950372"/>
                  </a:lnTo>
                  <a:close/>
                </a:path>
              </a:pathLst>
            </a:custGeom>
            <a:gradFill rotWithShape="true">
              <a:gsLst>
                <a:gs pos="0">
                  <a:srgbClr val="3E9D81">
                    <a:alpha val="100000"/>
                  </a:srgbClr>
                </a:gs>
                <a:gs pos="100000">
                  <a:srgbClr val="3E9D81">
                    <a:alpha val="0"/>
                  </a:srgbClr>
                </a:gs>
              </a:gsLst>
              <a:lin ang="0"/>
            </a:gradFill>
          </p:spPr>
        </p:sp>
        <p:sp>
          <p:nvSpPr>
            <p:cNvPr name="TextBox 8" id="8"/>
            <p:cNvSpPr txBox="true"/>
            <p:nvPr/>
          </p:nvSpPr>
          <p:spPr>
            <a:xfrm>
              <a:off x="0" y="-28575"/>
              <a:ext cx="1207512" cy="978947"/>
            </a:xfrm>
            <a:prstGeom prst="rect">
              <a:avLst/>
            </a:prstGeom>
          </p:spPr>
          <p:txBody>
            <a:bodyPr anchor="ctr" rtlCol="false" tIns="50800" lIns="50800" bIns="50800" rIns="50800"/>
            <a:lstStyle/>
            <a:p>
              <a:pPr algn="ctr">
                <a:lnSpc>
                  <a:spcPts val="1960"/>
                </a:lnSpc>
              </a:pPr>
            </a:p>
          </p:txBody>
        </p:sp>
      </p:grpSp>
      <p:sp>
        <p:nvSpPr>
          <p:cNvPr name="Freeform 9" id="9"/>
          <p:cNvSpPr/>
          <p:nvPr/>
        </p:nvSpPr>
        <p:spPr>
          <a:xfrm flipH="false" flipV="false" rot="0">
            <a:off x="1037654" y="1319592"/>
            <a:ext cx="9149504" cy="3053647"/>
          </a:xfrm>
          <a:custGeom>
            <a:avLst/>
            <a:gdLst/>
            <a:ahLst/>
            <a:cxnLst/>
            <a:rect r="r" b="b" t="t" l="l"/>
            <a:pathLst>
              <a:path h="3053647" w="9149504">
                <a:moveTo>
                  <a:pt x="0" y="0"/>
                </a:moveTo>
                <a:lnTo>
                  <a:pt x="9149504" y="0"/>
                </a:lnTo>
                <a:lnTo>
                  <a:pt x="9149504" y="3053647"/>
                </a:lnTo>
                <a:lnTo>
                  <a:pt x="0" y="3053647"/>
                </a:lnTo>
                <a:lnTo>
                  <a:pt x="0" y="0"/>
                </a:lnTo>
                <a:close/>
              </a:path>
            </a:pathLst>
          </a:custGeom>
          <a:blipFill>
            <a:blip r:embed="rId3"/>
            <a:stretch>
              <a:fillRect l="0" t="0" r="0" b="0"/>
            </a:stretch>
          </a:blipFill>
        </p:spPr>
      </p:sp>
      <p:sp>
        <p:nvSpPr>
          <p:cNvPr name="Freeform 10" id="10"/>
          <p:cNvSpPr/>
          <p:nvPr/>
        </p:nvSpPr>
        <p:spPr>
          <a:xfrm flipH="false" flipV="false" rot="405765">
            <a:off x="8567340" y="3466712"/>
            <a:ext cx="2786494" cy="745052"/>
          </a:xfrm>
          <a:custGeom>
            <a:avLst/>
            <a:gdLst/>
            <a:ahLst/>
            <a:cxnLst/>
            <a:rect r="r" b="b" t="t" l="l"/>
            <a:pathLst>
              <a:path h="745052" w="2786494">
                <a:moveTo>
                  <a:pt x="0" y="0"/>
                </a:moveTo>
                <a:lnTo>
                  <a:pt x="2786494" y="0"/>
                </a:lnTo>
                <a:lnTo>
                  <a:pt x="2786494" y="745052"/>
                </a:lnTo>
                <a:lnTo>
                  <a:pt x="0" y="745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4319452">
            <a:off x="543303" y="2012762"/>
            <a:ext cx="2242410" cy="2771518"/>
          </a:xfrm>
          <a:custGeom>
            <a:avLst/>
            <a:gdLst/>
            <a:ahLst/>
            <a:cxnLst/>
            <a:rect r="r" b="b" t="t" l="l"/>
            <a:pathLst>
              <a:path h="2771518" w="2242410">
                <a:moveTo>
                  <a:pt x="0" y="0"/>
                </a:moveTo>
                <a:lnTo>
                  <a:pt x="2242410" y="0"/>
                </a:lnTo>
                <a:lnTo>
                  <a:pt x="2242410" y="2771517"/>
                </a:lnTo>
                <a:lnTo>
                  <a:pt x="0" y="27715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1388008" y="2846415"/>
            <a:ext cx="5871292" cy="2667000"/>
          </a:xfrm>
          <a:prstGeom prst="rect">
            <a:avLst/>
          </a:prstGeom>
        </p:spPr>
        <p:txBody>
          <a:bodyPr anchor="t" rtlCol="false" tIns="0" lIns="0" bIns="0" rIns="0">
            <a:spAutoFit/>
          </a:bodyPr>
          <a:lstStyle/>
          <a:p>
            <a:pPr algn="l" marL="388620" indent="-194310" lvl="1">
              <a:lnSpc>
                <a:spcPts val="2160"/>
              </a:lnSpc>
              <a:buFont typeface="Arial"/>
              <a:buChar char="•"/>
            </a:pPr>
            <a:r>
              <a:rPr lang="en-US" sz="1800" spc="-36">
                <a:solidFill>
                  <a:srgbClr val="FFFFFF"/>
                </a:solidFill>
                <a:latin typeface="Open Sauce"/>
                <a:ea typeface="Open Sauce"/>
                <a:cs typeface="Open Sauce"/>
                <a:sym typeface="Open Sauce"/>
              </a:rPr>
              <a:t>Responsabilidad: Realiza un balance informativo sobre la integridad del dataset original.</a:t>
            </a:r>
          </a:p>
          <a:p>
            <a:pPr algn="l" marL="388620" indent="-194310" lvl="1">
              <a:lnSpc>
                <a:spcPts val="2160"/>
              </a:lnSpc>
              <a:buFont typeface="Arial"/>
              <a:buChar char="•"/>
            </a:pPr>
            <a:r>
              <a:rPr lang="en-US" sz="1800" spc="-36">
                <a:solidFill>
                  <a:srgbClr val="FFFFFF"/>
                </a:solidFill>
                <a:latin typeface="Open Sauce"/>
                <a:ea typeface="Open Sauce"/>
                <a:cs typeface="Open Sauce"/>
                <a:sym typeface="Open Sauce"/>
              </a:rPr>
              <a:t>filasValidas: Almacena el total de registros que superaron exitosamente todas las pruebas del filtro.</a:t>
            </a:r>
          </a:p>
          <a:p>
            <a:pPr algn="l" marL="388620" indent="-194310" lvl="1">
              <a:lnSpc>
                <a:spcPts val="2160"/>
              </a:lnSpc>
              <a:buFont typeface="Arial"/>
              <a:buChar char="•"/>
            </a:pPr>
            <a:r>
              <a:rPr lang="en-US" sz="1800" spc="-36">
                <a:solidFill>
                  <a:srgbClr val="FFFFFF"/>
                </a:solidFill>
                <a:latin typeface="Open Sauce"/>
                <a:ea typeface="Open Sauce"/>
                <a:cs typeface="Open Sauce"/>
                <a:sym typeface="Open Sauce"/>
              </a:rPr>
              <a:t>filasDescartadas: Calcula la diferencia entre el total de líneas leídas y las válidas, permitiendo cuantificar cuánta "basura" o datos incompletos existían en el archivo kdrama.csv.</a:t>
            </a:r>
          </a:p>
          <a:p>
            <a:pPr algn="l">
              <a:lnSpc>
                <a:spcPts val="2160"/>
              </a:lnSpc>
            </a:pPr>
          </a:p>
        </p:txBody>
      </p:sp>
      <p:sp>
        <p:nvSpPr>
          <p:cNvPr name="TextBox 13" id="13"/>
          <p:cNvSpPr txBox="true"/>
          <p:nvPr/>
        </p:nvSpPr>
        <p:spPr>
          <a:xfrm rot="0">
            <a:off x="1028700" y="4893227"/>
            <a:ext cx="9527925" cy="5067300"/>
          </a:xfrm>
          <a:prstGeom prst="rect">
            <a:avLst/>
          </a:prstGeom>
        </p:spPr>
        <p:txBody>
          <a:bodyPr anchor="t" rtlCol="false" tIns="0" lIns="0" bIns="0" rIns="0">
            <a:spAutoFit/>
          </a:bodyPr>
          <a:lstStyle/>
          <a:p>
            <a:pPr algn="l">
              <a:lnSpc>
                <a:spcPts val="2159"/>
              </a:lnSpc>
            </a:pPr>
            <a:r>
              <a:rPr lang="en-US" sz="1799" spc="-35">
                <a:solidFill>
                  <a:srgbClr val="FFFFFF"/>
                </a:solidFill>
                <a:latin typeface="Open Sauce"/>
                <a:ea typeface="Open Sauce"/>
                <a:cs typeface="Open Sauce"/>
                <a:sym typeface="Open Sauce"/>
              </a:rPr>
              <a:t>¿Qué hace?: Esta función actúa como un controlador, ya que verifica si cada línea del dataset cumple con las condiciones necesarias para ser procesada sin errores.</a:t>
            </a:r>
          </a:p>
          <a:p>
            <a:pPr algn="l">
              <a:lnSpc>
                <a:spcPts val="2159"/>
              </a:lnSpc>
            </a:pPr>
          </a:p>
          <a:p>
            <a:pPr algn="l" marL="388618" indent="-194309" lvl="1">
              <a:lnSpc>
                <a:spcPts val="2159"/>
              </a:lnSpc>
              <a:buFont typeface="Arial"/>
              <a:buChar char="•"/>
            </a:pPr>
            <a:r>
              <a:rPr lang="en-US" sz="1799" spc="-35">
                <a:solidFill>
                  <a:srgbClr val="FFFFFF"/>
                </a:solidFill>
                <a:latin typeface="Open Sauce"/>
                <a:ea typeface="Open Sauce"/>
                <a:cs typeface="Open Sauce"/>
                <a:sym typeface="Open Sauce"/>
              </a:rPr>
              <a:t>filter: Es una función de orden superior que recorre la colección rows y solo conserva aquellas que devuelven un valor verdadero (True).</a:t>
            </a:r>
          </a:p>
          <a:p>
            <a:pPr algn="l">
              <a:lnSpc>
                <a:spcPts val="2159"/>
              </a:lnSpc>
            </a:pPr>
          </a:p>
          <a:p>
            <a:pPr algn="l" marL="388618" indent="-194309" lvl="1">
              <a:lnSpc>
                <a:spcPts val="2159"/>
              </a:lnSpc>
              <a:buFont typeface="Arial"/>
              <a:buChar char="•"/>
            </a:pPr>
            <a:r>
              <a:rPr lang="en-US" sz="1799" spc="-35">
                <a:solidFill>
                  <a:srgbClr val="FFFFFF"/>
                </a:solidFill>
                <a:latin typeface="Open Sauce"/>
                <a:ea typeface="Open Sauce"/>
                <a:cs typeface="Open Sauce"/>
                <a:sym typeface="Open Sauce"/>
              </a:rPr>
              <a:t>Lambda (\cols -&gt; ...): Define una función anónima que analiza cada fila (representada por cols) bajo cinco criterios de seguridad:</a:t>
            </a:r>
          </a:p>
          <a:p>
            <a:pPr algn="l">
              <a:lnSpc>
                <a:spcPts val="2159"/>
              </a:lnSpc>
            </a:pPr>
          </a:p>
          <a:p>
            <a:pPr algn="l" marL="388618" indent="-194309" lvl="1">
              <a:lnSpc>
                <a:spcPts val="2159"/>
              </a:lnSpc>
              <a:buAutoNum type="arabicPeriod" startAt="1"/>
            </a:pPr>
            <a:r>
              <a:rPr lang="en-US" sz="1799" spc="-35">
                <a:solidFill>
                  <a:srgbClr val="FFFFFF"/>
                </a:solidFill>
                <a:latin typeface="Open Sauce"/>
                <a:ea typeface="Open Sauce"/>
                <a:cs typeface="Open Sauce"/>
                <a:sym typeface="Open Sauce"/>
              </a:rPr>
              <a:t>length cols &gt;= 3: Verifica que la línea tenga al menos las 3 columnas requeridas (Name, Episodes, Rating).</a:t>
            </a:r>
          </a:p>
          <a:p>
            <a:pPr algn="l" marL="388618" indent="-194309" lvl="1">
              <a:lnSpc>
                <a:spcPts val="2159"/>
              </a:lnSpc>
              <a:buAutoNum type="arabicPeriod" startAt="1"/>
            </a:pPr>
            <a:r>
              <a:rPr lang="en-US" sz="1799" spc="-35">
                <a:solidFill>
                  <a:srgbClr val="FFFFFF"/>
                </a:solidFill>
                <a:latin typeface="Open Sauce"/>
                <a:ea typeface="Open Sauce"/>
                <a:cs typeface="Open Sauce"/>
                <a:sym typeface="Open Sauce"/>
              </a:rPr>
              <a:t>not (null (head cols)): Asegura que el nombre del KDrama no sea un campo vacío.</a:t>
            </a:r>
          </a:p>
          <a:p>
            <a:pPr algn="l" marL="388618" indent="-194309" lvl="1">
              <a:lnSpc>
                <a:spcPts val="2159"/>
              </a:lnSpc>
              <a:buAutoNum type="arabicPeriod" startAt="1"/>
            </a:pPr>
            <a:r>
              <a:rPr lang="en-US" sz="1799" spc="-35">
                <a:solidFill>
                  <a:srgbClr val="FFFFFF"/>
                </a:solidFill>
                <a:latin typeface="Open Sauce"/>
                <a:ea typeface="Open Sauce"/>
                <a:cs typeface="Open Sauce"/>
                <a:sym typeface="Open Sauce"/>
              </a:rPr>
              <a:t>not (all isSpace (head cols)): Valida que el nombre no contenga únicamente espacios en blanco.</a:t>
            </a:r>
          </a:p>
          <a:p>
            <a:pPr algn="l" marL="388618" indent="-194309" lvl="1">
              <a:lnSpc>
                <a:spcPts val="2159"/>
              </a:lnSpc>
              <a:buAutoNum type="arabicPeriod" startAt="1"/>
            </a:pPr>
            <a:r>
              <a:rPr lang="en-US" sz="1799" spc="-35">
                <a:solidFill>
                  <a:srgbClr val="FFFFFF"/>
                </a:solidFill>
                <a:latin typeface="Open Sauce"/>
                <a:ea typeface="Open Sauce"/>
                <a:cs typeface="Open Sauce"/>
                <a:sym typeface="Open Sauce"/>
              </a:rPr>
              <a:t>readMaybe ... /= Nothing: Intenta convertir el Rating y el Número de Episodios a valores decimales. Si la conversión falla (por ejemplo, si hay texto en lugar de números), devuelve un Nothing y la fila es descartada para evitar que el programa falle.</a:t>
            </a:r>
          </a:p>
          <a:p>
            <a:pPr algn="l">
              <a:lnSpc>
                <a:spcPts val="21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5416197"/>
            <a:ext cx="2977205" cy="3842103"/>
            <a:chOff x="0" y="0"/>
            <a:chExt cx="784120" cy="1011912"/>
          </a:xfrm>
        </p:grpSpPr>
        <p:sp>
          <p:nvSpPr>
            <p:cNvPr name="Freeform 4" id="4"/>
            <p:cNvSpPr/>
            <p:nvPr/>
          </p:nvSpPr>
          <p:spPr>
            <a:xfrm flipH="false" flipV="false" rot="0">
              <a:off x="0" y="0"/>
              <a:ext cx="784120" cy="1011912"/>
            </a:xfrm>
            <a:custGeom>
              <a:avLst/>
              <a:gdLst/>
              <a:ahLst/>
              <a:cxnLst/>
              <a:rect r="r" b="b" t="t" l="l"/>
              <a:pathLst>
                <a:path h="1011912" w="784120">
                  <a:moveTo>
                    <a:pt x="0" y="0"/>
                  </a:moveTo>
                  <a:lnTo>
                    <a:pt x="784120" y="0"/>
                  </a:lnTo>
                  <a:lnTo>
                    <a:pt x="784120" y="1011912"/>
                  </a:lnTo>
                  <a:lnTo>
                    <a:pt x="0" y="1011912"/>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784120" cy="1040487"/>
            </a:xfrm>
            <a:prstGeom prst="rect">
              <a:avLst/>
            </a:prstGeom>
          </p:spPr>
          <p:txBody>
            <a:bodyPr anchor="ctr" rtlCol="false" tIns="50800" lIns="50800" bIns="50800" rIns="50800"/>
            <a:lstStyle/>
            <a:p>
              <a:pPr algn="ctr">
                <a:lnSpc>
                  <a:spcPts val="1960"/>
                </a:lnSpc>
              </a:pPr>
            </a:p>
          </p:txBody>
        </p:sp>
      </p:grpSp>
      <p:sp>
        <p:nvSpPr>
          <p:cNvPr name="Freeform 6" id="6"/>
          <p:cNvSpPr/>
          <p:nvPr/>
        </p:nvSpPr>
        <p:spPr>
          <a:xfrm flipH="false" flipV="false" rot="0">
            <a:off x="749818" y="1028700"/>
            <a:ext cx="11301259" cy="1045366"/>
          </a:xfrm>
          <a:custGeom>
            <a:avLst/>
            <a:gdLst/>
            <a:ahLst/>
            <a:cxnLst/>
            <a:rect r="r" b="b" t="t" l="l"/>
            <a:pathLst>
              <a:path h="1045366" w="11301259">
                <a:moveTo>
                  <a:pt x="0" y="0"/>
                </a:moveTo>
                <a:lnTo>
                  <a:pt x="11301259" y="0"/>
                </a:lnTo>
                <a:lnTo>
                  <a:pt x="11301259" y="1045366"/>
                </a:lnTo>
                <a:lnTo>
                  <a:pt x="0" y="1045366"/>
                </a:lnTo>
                <a:lnTo>
                  <a:pt x="0" y="0"/>
                </a:lnTo>
                <a:close/>
              </a:path>
            </a:pathLst>
          </a:custGeom>
          <a:blipFill>
            <a:blip r:embed="rId3"/>
            <a:stretch>
              <a:fillRect l="0" t="0" r="0" b="0"/>
            </a:stretch>
          </a:blipFill>
        </p:spPr>
      </p:sp>
      <p:sp>
        <p:nvSpPr>
          <p:cNvPr name="Freeform 7" id="7"/>
          <p:cNvSpPr/>
          <p:nvPr/>
        </p:nvSpPr>
        <p:spPr>
          <a:xfrm flipH="false" flipV="false" rot="0">
            <a:off x="749818" y="5876726"/>
            <a:ext cx="11301259" cy="1144252"/>
          </a:xfrm>
          <a:custGeom>
            <a:avLst/>
            <a:gdLst/>
            <a:ahLst/>
            <a:cxnLst/>
            <a:rect r="r" b="b" t="t" l="l"/>
            <a:pathLst>
              <a:path h="1144252" w="11301259">
                <a:moveTo>
                  <a:pt x="0" y="0"/>
                </a:moveTo>
                <a:lnTo>
                  <a:pt x="11301259" y="0"/>
                </a:lnTo>
                <a:lnTo>
                  <a:pt x="11301259" y="1144252"/>
                </a:lnTo>
                <a:lnTo>
                  <a:pt x="0" y="1144252"/>
                </a:lnTo>
                <a:lnTo>
                  <a:pt x="0" y="0"/>
                </a:lnTo>
                <a:close/>
              </a:path>
            </a:pathLst>
          </a:custGeom>
          <a:blipFill>
            <a:blip r:embed="rId4"/>
            <a:stretch>
              <a:fillRect l="0" t="0" r="0" b="0"/>
            </a:stretch>
          </a:blipFill>
        </p:spPr>
      </p:sp>
      <p:sp>
        <p:nvSpPr>
          <p:cNvPr name="Freeform 8" id="8"/>
          <p:cNvSpPr/>
          <p:nvPr/>
        </p:nvSpPr>
        <p:spPr>
          <a:xfrm flipH="false" flipV="false" rot="4795357">
            <a:off x="5225960" y="2534568"/>
            <a:ext cx="1843882" cy="1642732"/>
          </a:xfrm>
          <a:custGeom>
            <a:avLst/>
            <a:gdLst/>
            <a:ahLst/>
            <a:cxnLst/>
            <a:rect r="r" b="b" t="t" l="l"/>
            <a:pathLst>
              <a:path h="1642732" w="1843882">
                <a:moveTo>
                  <a:pt x="0" y="0"/>
                </a:moveTo>
                <a:lnTo>
                  <a:pt x="1843882" y="0"/>
                </a:lnTo>
                <a:lnTo>
                  <a:pt x="1843882" y="1642732"/>
                </a:lnTo>
                <a:lnTo>
                  <a:pt x="0" y="1642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353498">
            <a:off x="3767647" y="7445378"/>
            <a:ext cx="2475056" cy="1316018"/>
          </a:xfrm>
          <a:custGeom>
            <a:avLst/>
            <a:gdLst/>
            <a:ahLst/>
            <a:cxnLst/>
            <a:rect r="r" b="b" t="t" l="l"/>
            <a:pathLst>
              <a:path h="1316018" w="2475056">
                <a:moveTo>
                  <a:pt x="0" y="0"/>
                </a:moveTo>
                <a:lnTo>
                  <a:pt x="2475056" y="0"/>
                </a:lnTo>
                <a:lnTo>
                  <a:pt x="2475056" y="1316019"/>
                </a:lnTo>
                <a:lnTo>
                  <a:pt x="0" y="13160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7924574" y="2501547"/>
            <a:ext cx="8657470" cy="2400300"/>
          </a:xfrm>
          <a:prstGeom prst="rect">
            <a:avLst/>
          </a:prstGeom>
        </p:spPr>
        <p:txBody>
          <a:bodyPr anchor="t" rtlCol="false" tIns="0" lIns="0" bIns="0" rIns="0">
            <a:spAutoFit/>
          </a:bodyPr>
          <a:lstStyle/>
          <a:p>
            <a:pPr algn="just">
              <a:lnSpc>
                <a:spcPts val="2159"/>
              </a:lnSpc>
            </a:pPr>
            <a:r>
              <a:rPr lang="en-US" sz="1799" spc="-35">
                <a:solidFill>
                  <a:srgbClr val="FFFFFF"/>
                </a:solidFill>
                <a:latin typeface="Open Sauce"/>
                <a:ea typeface="Open Sauce"/>
                <a:cs typeface="Open Sauce"/>
                <a:sym typeface="Open Sauce"/>
              </a:rPr>
              <a:t>Este bloque de código constituye la fase de extracción y transformación de datos, donde se utiliza la función de orden superior map junto con lambdas para proyectar la colección de filas validadas en listas independientes y tipadas. Su propósito es aislar las columnas de interés (Ratings, Episodios y Nombres) convirtiendo los datos de texto plano a formatos numéricos Double o cadenas limpias. Esta operación es fundamental dentro de la arquitectura funcional, ya que prepara la "materia prima" específica que consumirán posteriormente las funciones puras de análisis estadístico y normalización de texto, garantizando que cada proceso reciba únicamente la información que le corresponde.</a:t>
            </a:r>
          </a:p>
        </p:txBody>
      </p:sp>
      <p:sp>
        <p:nvSpPr>
          <p:cNvPr name="TextBox 11" id="11"/>
          <p:cNvSpPr txBox="true"/>
          <p:nvPr/>
        </p:nvSpPr>
        <p:spPr>
          <a:xfrm rot="0">
            <a:off x="7924574" y="7337248"/>
            <a:ext cx="8657470" cy="2133600"/>
          </a:xfrm>
          <a:prstGeom prst="rect">
            <a:avLst/>
          </a:prstGeom>
        </p:spPr>
        <p:txBody>
          <a:bodyPr anchor="t" rtlCol="false" tIns="0" lIns="0" bIns="0" rIns="0">
            <a:spAutoFit/>
          </a:bodyPr>
          <a:lstStyle/>
          <a:p>
            <a:pPr algn="just">
              <a:lnSpc>
                <a:spcPts val="2159"/>
              </a:lnSpc>
            </a:pPr>
            <a:r>
              <a:rPr lang="en-US" sz="1799" spc="-35">
                <a:solidFill>
                  <a:srgbClr val="FFFFFF"/>
                </a:solidFill>
                <a:latin typeface="Open Sauce"/>
                <a:ea typeface="Open Sauce"/>
                <a:cs typeface="Open Sauce"/>
                <a:sym typeface="Open Sauce"/>
              </a:rPr>
              <a:t>Este bloque de código constituye el motor de procesamiento del programa, donde se ejecutan las funciones de lógica pura para transformar los datos extraídos en resultados finales. Por un lado, se realiza el análisis estadístico (FP1) de los ratings y episodios, reduciendo listas numéricas a estructuras de datos organizadas (Stats) mediante operaciones de agregación. Por otro lado, se implementa la normalización de texto (FP2), donde a través de un map se estandarizan todos los nombres de los dramas, garantizando que cumplan con el formato, limpieza y longitud predefinidos en la arquitectura del sistema.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3317" y="1976509"/>
            <a:ext cx="3551819" cy="4059425"/>
            <a:chOff x="0" y="0"/>
            <a:chExt cx="935459" cy="1069149"/>
          </a:xfrm>
        </p:grpSpPr>
        <p:sp>
          <p:nvSpPr>
            <p:cNvPr name="Freeform 4" id="4"/>
            <p:cNvSpPr/>
            <p:nvPr/>
          </p:nvSpPr>
          <p:spPr>
            <a:xfrm flipH="false" flipV="false" rot="0">
              <a:off x="0" y="0"/>
              <a:ext cx="935459" cy="1069149"/>
            </a:xfrm>
            <a:custGeom>
              <a:avLst/>
              <a:gdLst/>
              <a:ahLst/>
              <a:cxnLst/>
              <a:rect r="r" b="b" t="t" l="l"/>
              <a:pathLst>
                <a:path h="1069149" w="935459">
                  <a:moveTo>
                    <a:pt x="0" y="0"/>
                  </a:moveTo>
                  <a:lnTo>
                    <a:pt x="935459" y="0"/>
                  </a:lnTo>
                  <a:lnTo>
                    <a:pt x="935459" y="1069149"/>
                  </a:lnTo>
                  <a:lnTo>
                    <a:pt x="0" y="1069149"/>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935459" cy="1097724"/>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5400000">
            <a:off x="11389487" y="166121"/>
            <a:ext cx="1800881" cy="9938745"/>
            <a:chOff x="0" y="0"/>
            <a:chExt cx="474306" cy="2617612"/>
          </a:xfrm>
        </p:grpSpPr>
        <p:sp>
          <p:nvSpPr>
            <p:cNvPr name="Freeform 7" id="7"/>
            <p:cNvSpPr/>
            <p:nvPr/>
          </p:nvSpPr>
          <p:spPr>
            <a:xfrm flipH="false" flipV="false" rot="0">
              <a:off x="0" y="0"/>
              <a:ext cx="474306" cy="2617612"/>
            </a:xfrm>
            <a:custGeom>
              <a:avLst/>
              <a:gdLst/>
              <a:ahLst/>
              <a:cxnLst/>
              <a:rect r="r" b="b" t="t" l="l"/>
              <a:pathLst>
                <a:path h="2617612" w="474306">
                  <a:moveTo>
                    <a:pt x="0" y="0"/>
                  </a:moveTo>
                  <a:lnTo>
                    <a:pt x="474306" y="0"/>
                  </a:lnTo>
                  <a:lnTo>
                    <a:pt x="474306" y="2617612"/>
                  </a:lnTo>
                  <a:lnTo>
                    <a:pt x="0" y="2617612"/>
                  </a:lnTo>
                  <a:close/>
                </a:path>
              </a:pathLst>
            </a:custGeom>
            <a:gradFill rotWithShape="true">
              <a:gsLst>
                <a:gs pos="0">
                  <a:srgbClr val="3E9D81">
                    <a:alpha val="100000"/>
                  </a:srgbClr>
                </a:gs>
                <a:gs pos="100000">
                  <a:srgbClr val="3E9D81">
                    <a:alpha val="0"/>
                  </a:srgbClr>
                </a:gs>
              </a:gsLst>
              <a:lin ang="0"/>
            </a:gradFill>
          </p:spPr>
        </p:sp>
        <p:sp>
          <p:nvSpPr>
            <p:cNvPr name="TextBox 8" id="8"/>
            <p:cNvSpPr txBox="true"/>
            <p:nvPr/>
          </p:nvSpPr>
          <p:spPr>
            <a:xfrm>
              <a:off x="0" y="-28575"/>
              <a:ext cx="474306" cy="2646187"/>
            </a:xfrm>
            <a:prstGeom prst="rect">
              <a:avLst/>
            </a:prstGeom>
          </p:spPr>
          <p:txBody>
            <a:bodyPr anchor="ctr" rtlCol="false" tIns="50800" lIns="50800" bIns="50800" rIns="50800"/>
            <a:lstStyle/>
            <a:p>
              <a:pPr algn="ctr">
                <a:lnSpc>
                  <a:spcPts val="1960"/>
                </a:lnSpc>
              </a:pPr>
            </a:p>
          </p:txBody>
        </p:sp>
      </p:grpSp>
      <p:grpSp>
        <p:nvGrpSpPr>
          <p:cNvPr name="Group 9" id="9"/>
          <p:cNvGrpSpPr/>
          <p:nvPr/>
        </p:nvGrpSpPr>
        <p:grpSpPr>
          <a:xfrm rot="5400000">
            <a:off x="11397189" y="-4076634"/>
            <a:ext cx="1785477" cy="9938745"/>
            <a:chOff x="0" y="0"/>
            <a:chExt cx="470249" cy="2617612"/>
          </a:xfrm>
        </p:grpSpPr>
        <p:sp>
          <p:nvSpPr>
            <p:cNvPr name="Freeform 10" id="10"/>
            <p:cNvSpPr/>
            <p:nvPr/>
          </p:nvSpPr>
          <p:spPr>
            <a:xfrm flipH="false" flipV="false" rot="0">
              <a:off x="0" y="0"/>
              <a:ext cx="470249" cy="2617612"/>
            </a:xfrm>
            <a:custGeom>
              <a:avLst/>
              <a:gdLst/>
              <a:ahLst/>
              <a:cxnLst/>
              <a:rect r="r" b="b" t="t" l="l"/>
              <a:pathLst>
                <a:path h="2617612" w="470249">
                  <a:moveTo>
                    <a:pt x="0" y="0"/>
                  </a:moveTo>
                  <a:lnTo>
                    <a:pt x="470249" y="0"/>
                  </a:lnTo>
                  <a:lnTo>
                    <a:pt x="470249" y="2617612"/>
                  </a:lnTo>
                  <a:lnTo>
                    <a:pt x="0" y="2617612"/>
                  </a:lnTo>
                  <a:close/>
                </a:path>
              </a:pathLst>
            </a:custGeom>
            <a:gradFill rotWithShape="true">
              <a:gsLst>
                <a:gs pos="0">
                  <a:srgbClr val="3E9D81">
                    <a:alpha val="100000"/>
                  </a:srgbClr>
                </a:gs>
                <a:gs pos="100000">
                  <a:srgbClr val="3E9D81">
                    <a:alpha val="0"/>
                  </a:srgbClr>
                </a:gs>
              </a:gsLst>
              <a:lin ang="0"/>
            </a:gradFill>
          </p:spPr>
        </p:sp>
        <p:sp>
          <p:nvSpPr>
            <p:cNvPr name="TextBox 11" id="11"/>
            <p:cNvSpPr txBox="true"/>
            <p:nvPr/>
          </p:nvSpPr>
          <p:spPr>
            <a:xfrm>
              <a:off x="0" y="-28575"/>
              <a:ext cx="470249" cy="2646187"/>
            </a:xfrm>
            <a:prstGeom prst="rect">
              <a:avLst/>
            </a:prstGeom>
          </p:spPr>
          <p:txBody>
            <a:bodyPr anchor="ctr" rtlCol="false" tIns="50800" lIns="50800" bIns="50800" rIns="50800"/>
            <a:lstStyle/>
            <a:p>
              <a:pPr algn="ctr">
                <a:lnSpc>
                  <a:spcPts val="1960"/>
                </a:lnSpc>
              </a:pPr>
            </a:p>
          </p:txBody>
        </p:sp>
      </p:grpSp>
      <p:sp>
        <p:nvSpPr>
          <p:cNvPr name="Freeform 12" id="12"/>
          <p:cNvSpPr/>
          <p:nvPr/>
        </p:nvSpPr>
        <p:spPr>
          <a:xfrm flipH="false" flipV="false" rot="0">
            <a:off x="4093727" y="619516"/>
            <a:ext cx="10100546" cy="5416418"/>
          </a:xfrm>
          <a:custGeom>
            <a:avLst/>
            <a:gdLst/>
            <a:ahLst/>
            <a:cxnLst/>
            <a:rect r="r" b="b" t="t" l="l"/>
            <a:pathLst>
              <a:path h="5416418" w="10100546">
                <a:moveTo>
                  <a:pt x="0" y="0"/>
                </a:moveTo>
                <a:lnTo>
                  <a:pt x="10100546" y="0"/>
                </a:lnTo>
                <a:lnTo>
                  <a:pt x="10100546" y="5416418"/>
                </a:lnTo>
                <a:lnTo>
                  <a:pt x="0" y="5416418"/>
                </a:lnTo>
                <a:lnTo>
                  <a:pt x="0" y="0"/>
                </a:lnTo>
                <a:close/>
              </a:path>
            </a:pathLst>
          </a:custGeom>
          <a:blipFill>
            <a:blip r:embed="rId3"/>
            <a:stretch>
              <a:fillRect l="0" t="0" r="0" b="0"/>
            </a:stretch>
          </a:blipFill>
        </p:spPr>
      </p:sp>
      <p:sp>
        <p:nvSpPr>
          <p:cNvPr name="Freeform 13" id="13"/>
          <p:cNvSpPr/>
          <p:nvPr/>
        </p:nvSpPr>
        <p:spPr>
          <a:xfrm flipH="false" flipV="false" rot="0">
            <a:off x="7802925" y="6035934"/>
            <a:ext cx="2365453" cy="1498931"/>
          </a:xfrm>
          <a:custGeom>
            <a:avLst/>
            <a:gdLst/>
            <a:ahLst/>
            <a:cxnLst/>
            <a:rect r="r" b="b" t="t" l="l"/>
            <a:pathLst>
              <a:path h="1498931" w="2365453">
                <a:moveTo>
                  <a:pt x="0" y="0"/>
                </a:moveTo>
                <a:lnTo>
                  <a:pt x="2365453" y="0"/>
                </a:lnTo>
                <a:lnTo>
                  <a:pt x="2365453" y="1498931"/>
                </a:lnTo>
                <a:lnTo>
                  <a:pt x="0" y="14989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4187336" y="7682464"/>
            <a:ext cx="9913327" cy="1866900"/>
          </a:xfrm>
          <a:prstGeom prst="rect">
            <a:avLst/>
          </a:prstGeom>
        </p:spPr>
        <p:txBody>
          <a:bodyPr anchor="t" rtlCol="false" tIns="0" lIns="0" bIns="0" rIns="0">
            <a:spAutoFit/>
          </a:bodyPr>
          <a:lstStyle/>
          <a:p>
            <a:pPr algn="just">
              <a:lnSpc>
                <a:spcPts val="2159"/>
              </a:lnSpc>
            </a:pPr>
            <a:r>
              <a:rPr lang="en-US" sz="1799" spc="-35">
                <a:solidFill>
                  <a:srgbClr val="FFFFFF"/>
                </a:solidFill>
                <a:latin typeface="Open Sauce"/>
                <a:ea typeface="Open Sauce"/>
                <a:cs typeface="Open Sauce"/>
                <a:sym typeface="Open Sauce"/>
              </a:rPr>
              <a:t>Este bloque final representa la fase de salida y persistencia, donde se integran todos los datos procesados en un reporte estructurado. Mediante el uso de funciones de formateo como unlines y zipWith, el programa concatena los resultados de la validación, las estadísticas descriptivas y los ejemplos de transformación de texto en una sola cadena de caracteres. Finalmente, se gestiona el almacenamiento de datos mediante la función writeFile, que exporta toda la información al archivo físico results.txt, garantizando que el análisis del dataset de KDramas sea persistente y esté listo para su entrega.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5475013"/>
            <a:ext cx="2894909" cy="4811987"/>
            <a:chOff x="0" y="0"/>
            <a:chExt cx="762445" cy="1267355"/>
          </a:xfrm>
        </p:grpSpPr>
        <p:sp>
          <p:nvSpPr>
            <p:cNvPr name="Freeform 4" id="4"/>
            <p:cNvSpPr/>
            <p:nvPr/>
          </p:nvSpPr>
          <p:spPr>
            <a:xfrm flipH="false" flipV="false" rot="0">
              <a:off x="0" y="0"/>
              <a:ext cx="762445" cy="1267355"/>
            </a:xfrm>
            <a:custGeom>
              <a:avLst/>
              <a:gdLst/>
              <a:ahLst/>
              <a:cxnLst/>
              <a:rect r="r" b="b" t="t" l="l"/>
              <a:pathLst>
                <a:path h="1267355" w="762445">
                  <a:moveTo>
                    <a:pt x="0" y="0"/>
                  </a:moveTo>
                  <a:lnTo>
                    <a:pt x="762445" y="0"/>
                  </a:lnTo>
                  <a:lnTo>
                    <a:pt x="762445" y="1267355"/>
                  </a:lnTo>
                  <a:lnTo>
                    <a:pt x="0" y="1267355"/>
                  </a:lnTo>
                  <a:close/>
                </a:path>
              </a:pathLst>
            </a:custGeom>
            <a:gradFill rotWithShape="true">
              <a:gsLst>
                <a:gs pos="0">
                  <a:srgbClr val="3E9D81">
                    <a:alpha val="100000"/>
                  </a:srgbClr>
                </a:gs>
                <a:gs pos="100000">
                  <a:srgbClr val="3E9D81">
                    <a:alpha val="0"/>
                  </a:srgbClr>
                </a:gs>
              </a:gsLst>
              <a:lin ang="0"/>
            </a:gradFill>
          </p:spPr>
        </p:sp>
        <p:sp>
          <p:nvSpPr>
            <p:cNvPr name="TextBox 5" id="5"/>
            <p:cNvSpPr txBox="true"/>
            <p:nvPr/>
          </p:nvSpPr>
          <p:spPr>
            <a:xfrm>
              <a:off x="0" y="-28575"/>
              <a:ext cx="762445" cy="1295930"/>
            </a:xfrm>
            <a:prstGeom prst="rect">
              <a:avLst/>
            </a:prstGeom>
          </p:spPr>
          <p:txBody>
            <a:bodyPr anchor="ctr" rtlCol="false" tIns="50800" lIns="50800" bIns="50800" rIns="50800"/>
            <a:lstStyle/>
            <a:p>
              <a:pPr algn="ctr">
                <a:lnSpc>
                  <a:spcPts val="1960"/>
                </a:lnSpc>
              </a:pPr>
            </a:p>
          </p:txBody>
        </p:sp>
      </p:grpSp>
      <p:sp>
        <p:nvSpPr>
          <p:cNvPr name="Freeform 6" id="6"/>
          <p:cNvSpPr/>
          <p:nvPr/>
        </p:nvSpPr>
        <p:spPr>
          <a:xfrm flipH="false" flipV="false" rot="0">
            <a:off x="1447454" y="3527006"/>
            <a:ext cx="6222085" cy="2613738"/>
          </a:xfrm>
          <a:custGeom>
            <a:avLst/>
            <a:gdLst/>
            <a:ahLst/>
            <a:cxnLst/>
            <a:rect r="r" b="b" t="t" l="l"/>
            <a:pathLst>
              <a:path h="2613738" w="6222085">
                <a:moveTo>
                  <a:pt x="0" y="0"/>
                </a:moveTo>
                <a:lnTo>
                  <a:pt x="6222085" y="0"/>
                </a:lnTo>
                <a:lnTo>
                  <a:pt x="6222085" y="2613738"/>
                </a:lnTo>
                <a:lnTo>
                  <a:pt x="0" y="2613738"/>
                </a:lnTo>
                <a:lnTo>
                  <a:pt x="0" y="0"/>
                </a:lnTo>
                <a:close/>
              </a:path>
            </a:pathLst>
          </a:custGeom>
          <a:blipFill>
            <a:blip r:embed="rId3"/>
            <a:stretch>
              <a:fillRect l="0" t="0" r="0" b="0"/>
            </a:stretch>
          </a:blipFill>
        </p:spPr>
      </p:sp>
      <p:sp>
        <p:nvSpPr>
          <p:cNvPr name="Freeform 7" id="7"/>
          <p:cNvSpPr/>
          <p:nvPr/>
        </p:nvSpPr>
        <p:spPr>
          <a:xfrm flipH="false" flipV="false" rot="0">
            <a:off x="8817037" y="5749818"/>
            <a:ext cx="8996108" cy="3508482"/>
          </a:xfrm>
          <a:custGeom>
            <a:avLst/>
            <a:gdLst/>
            <a:ahLst/>
            <a:cxnLst/>
            <a:rect r="r" b="b" t="t" l="l"/>
            <a:pathLst>
              <a:path h="3508482" w="8996108">
                <a:moveTo>
                  <a:pt x="0" y="0"/>
                </a:moveTo>
                <a:lnTo>
                  <a:pt x="8996108" y="0"/>
                </a:lnTo>
                <a:lnTo>
                  <a:pt x="8996108" y="3508482"/>
                </a:lnTo>
                <a:lnTo>
                  <a:pt x="0" y="3508482"/>
                </a:lnTo>
                <a:lnTo>
                  <a:pt x="0" y="0"/>
                </a:lnTo>
                <a:close/>
              </a:path>
            </a:pathLst>
          </a:custGeom>
          <a:blipFill>
            <a:blip r:embed="rId4"/>
            <a:stretch>
              <a:fillRect l="0" t="0" r="0" b="0"/>
            </a:stretch>
          </a:blipFill>
        </p:spPr>
      </p:sp>
      <p:sp>
        <p:nvSpPr>
          <p:cNvPr name="Freeform 8" id="8"/>
          <p:cNvSpPr/>
          <p:nvPr/>
        </p:nvSpPr>
        <p:spPr>
          <a:xfrm flipH="false" flipV="false" rot="3909582">
            <a:off x="8523089" y="3466736"/>
            <a:ext cx="2183801" cy="1663659"/>
          </a:xfrm>
          <a:custGeom>
            <a:avLst/>
            <a:gdLst/>
            <a:ahLst/>
            <a:cxnLst/>
            <a:rect r="r" b="b" t="t" l="l"/>
            <a:pathLst>
              <a:path h="1663659" w="2183801">
                <a:moveTo>
                  <a:pt x="0" y="0"/>
                </a:moveTo>
                <a:lnTo>
                  <a:pt x="2183800" y="0"/>
                </a:lnTo>
                <a:lnTo>
                  <a:pt x="2183800" y="1663659"/>
                </a:lnTo>
                <a:lnTo>
                  <a:pt x="0" y="16636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7585427">
            <a:off x="1347313" y="5610848"/>
            <a:ext cx="1419800" cy="1179725"/>
          </a:xfrm>
          <a:custGeom>
            <a:avLst/>
            <a:gdLst/>
            <a:ahLst/>
            <a:cxnLst/>
            <a:rect r="r" b="b" t="t" l="l"/>
            <a:pathLst>
              <a:path h="1179725" w="1419800">
                <a:moveTo>
                  <a:pt x="0" y="0"/>
                </a:moveTo>
                <a:lnTo>
                  <a:pt x="1419800" y="0"/>
                </a:lnTo>
                <a:lnTo>
                  <a:pt x="1419800" y="1179724"/>
                </a:lnTo>
                <a:lnTo>
                  <a:pt x="0" y="11797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134436" y="1084030"/>
            <a:ext cx="8009564" cy="1369818"/>
          </a:xfrm>
          <a:prstGeom prst="rect">
            <a:avLst/>
          </a:prstGeom>
        </p:spPr>
        <p:txBody>
          <a:bodyPr anchor="t" rtlCol="false" tIns="0" lIns="0" bIns="0" rIns="0">
            <a:spAutoFit/>
          </a:bodyPr>
          <a:lstStyle/>
          <a:p>
            <a:pPr algn="l">
              <a:lnSpc>
                <a:spcPts val="10167"/>
              </a:lnSpc>
            </a:pPr>
            <a:r>
              <a:rPr lang="en-US" sz="10702" i="true" spc="-428">
                <a:solidFill>
                  <a:srgbClr val="8AB2A6"/>
                </a:solidFill>
                <a:latin typeface="Anton Italics"/>
                <a:ea typeface="Anton Italics"/>
                <a:cs typeface="Anton Italics"/>
                <a:sym typeface="Anton Italics"/>
              </a:rPr>
              <a:t>EXPLICACIÓN</a:t>
            </a:r>
          </a:p>
        </p:txBody>
      </p:sp>
      <p:sp>
        <p:nvSpPr>
          <p:cNvPr name="TextBox 11" id="11"/>
          <p:cNvSpPr txBox="true"/>
          <p:nvPr/>
        </p:nvSpPr>
        <p:spPr>
          <a:xfrm rot="0">
            <a:off x="4664522" y="2453848"/>
            <a:ext cx="4479478" cy="627671"/>
          </a:xfrm>
          <a:prstGeom prst="rect">
            <a:avLst/>
          </a:prstGeom>
        </p:spPr>
        <p:txBody>
          <a:bodyPr anchor="t" rtlCol="false" tIns="0" lIns="0" bIns="0" rIns="0">
            <a:spAutoFit/>
          </a:bodyPr>
          <a:lstStyle/>
          <a:p>
            <a:pPr algn="l">
              <a:lnSpc>
                <a:spcPts val="4962"/>
              </a:lnSpc>
            </a:pPr>
            <a:r>
              <a:rPr lang="en-US" sz="4135" i="true" spc="-82">
                <a:solidFill>
                  <a:srgbClr val="FFFFFF"/>
                </a:solidFill>
                <a:latin typeface="Anton Italics"/>
                <a:ea typeface="Anton Italics"/>
                <a:cs typeface="Anton Italics"/>
                <a:sym typeface="Anton Italics"/>
              </a:rPr>
              <a:t>PROCESSING.HS</a:t>
            </a:r>
          </a:p>
        </p:txBody>
      </p:sp>
      <p:sp>
        <p:nvSpPr>
          <p:cNvPr name="TextBox 12" id="12"/>
          <p:cNvSpPr txBox="true"/>
          <p:nvPr/>
        </p:nvSpPr>
        <p:spPr>
          <a:xfrm rot="0">
            <a:off x="2112459" y="7111435"/>
            <a:ext cx="5104127" cy="1600200"/>
          </a:xfrm>
          <a:prstGeom prst="rect">
            <a:avLst/>
          </a:prstGeom>
        </p:spPr>
        <p:txBody>
          <a:bodyPr anchor="t" rtlCol="false" tIns="0" lIns="0" bIns="0" rIns="0">
            <a:spAutoFit/>
          </a:bodyPr>
          <a:lstStyle/>
          <a:p>
            <a:pPr algn="just">
              <a:lnSpc>
                <a:spcPts val="2159"/>
              </a:lnSpc>
            </a:pPr>
            <a:r>
              <a:rPr lang="en-US" sz="1799" spc="-35">
                <a:solidFill>
                  <a:srgbClr val="FFFFFF"/>
                </a:solidFill>
                <a:latin typeface="Open Sauce"/>
                <a:ea typeface="Open Sauce"/>
                <a:cs typeface="Open Sauce"/>
                <a:sym typeface="Open Sauce"/>
              </a:rPr>
              <a:t>Este bloque define la arquitectura de salida de nuestra lógica de procesamiento. Mediante la creación del tipo de dato Stats, establecemos una estructura organizada que encapsula las seis métricas descriptivas calculadas para las columnas numéricas (Rating y Episodios).</a:t>
            </a:r>
          </a:p>
        </p:txBody>
      </p:sp>
      <p:sp>
        <p:nvSpPr>
          <p:cNvPr name="TextBox 13" id="13"/>
          <p:cNvSpPr txBox="true"/>
          <p:nvPr/>
        </p:nvSpPr>
        <p:spPr>
          <a:xfrm rot="0">
            <a:off x="10132015" y="1491392"/>
            <a:ext cx="6366152" cy="2933700"/>
          </a:xfrm>
          <a:prstGeom prst="rect">
            <a:avLst/>
          </a:prstGeom>
        </p:spPr>
        <p:txBody>
          <a:bodyPr anchor="t" rtlCol="false" tIns="0" lIns="0" bIns="0" rIns="0">
            <a:spAutoFit/>
          </a:bodyPr>
          <a:lstStyle/>
          <a:p>
            <a:pPr algn="just">
              <a:lnSpc>
                <a:spcPts val="2159"/>
              </a:lnSpc>
            </a:pPr>
            <a:r>
              <a:rPr lang="en-US" sz="1799" spc="-35">
                <a:solidFill>
                  <a:srgbClr val="FFFFFF"/>
                </a:solidFill>
                <a:latin typeface="Open Sauce"/>
                <a:ea typeface="Open Sauce"/>
                <a:cs typeface="Open Sauce"/>
                <a:sym typeface="Open Sauce"/>
              </a:rPr>
              <a:t>Esta función representa el procesamiento estadístico puro (FP1) del sistema, encargada de realizar cálculos descriptivos complejos sobre las columnas numéricas. Su importancia radica en el uso de la función de orden superior foldl', la cual actúa como un reductor que procesa las listas de ratings y episodios de manera eficiente y sin estados mutables. Al integrar cálculos de tendencia central y dispersión —como el promedio, la mediana y la desviación estándar— en una única transformación, la función garantiza que la salida sea un objeto de datos consistente y listo para ser reportado en el archivo final de resultados.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0D10"/>
        </a:solidFill>
      </p:bgPr>
    </p:bg>
    <p:spTree>
      <p:nvGrpSpPr>
        <p:cNvPr id="1" name=""/>
        <p:cNvGrpSpPr/>
        <p:nvPr/>
      </p:nvGrpSpPr>
      <p:grpSpPr>
        <a:xfrm>
          <a:off x="0" y="0"/>
          <a:ext cx="0" cy="0"/>
          <a:chOff x="0" y="0"/>
          <a:chExt cx="0" cy="0"/>
        </a:xfrm>
      </p:grpSpPr>
      <p:grpSp>
        <p:nvGrpSpPr>
          <p:cNvPr name="Group 2" id="2"/>
          <p:cNvGrpSpPr/>
          <p:nvPr/>
        </p:nvGrpSpPr>
        <p:grpSpPr>
          <a:xfrm rot="0">
            <a:off x="-152303" y="2168856"/>
            <a:ext cx="2894909" cy="4811987"/>
            <a:chOff x="0" y="0"/>
            <a:chExt cx="762445" cy="1267355"/>
          </a:xfrm>
        </p:grpSpPr>
        <p:sp>
          <p:nvSpPr>
            <p:cNvPr name="Freeform 3" id="3"/>
            <p:cNvSpPr/>
            <p:nvPr/>
          </p:nvSpPr>
          <p:spPr>
            <a:xfrm flipH="false" flipV="false" rot="0">
              <a:off x="0" y="0"/>
              <a:ext cx="762445" cy="1267355"/>
            </a:xfrm>
            <a:custGeom>
              <a:avLst/>
              <a:gdLst/>
              <a:ahLst/>
              <a:cxnLst/>
              <a:rect r="r" b="b" t="t" l="l"/>
              <a:pathLst>
                <a:path h="1267355" w="762445">
                  <a:moveTo>
                    <a:pt x="0" y="0"/>
                  </a:moveTo>
                  <a:lnTo>
                    <a:pt x="762445" y="0"/>
                  </a:lnTo>
                  <a:lnTo>
                    <a:pt x="762445" y="1267355"/>
                  </a:lnTo>
                  <a:lnTo>
                    <a:pt x="0" y="1267355"/>
                  </a:lnTo>
                  <a:close/>
                </a:path>
              </a:pathLst>
            </a:custGeom>
            <a:gradFill rotWithShape="true">
              <a:gsLst>
                <a:gs pos="0">
                  <a:srgbClr val="3E9D81">
                    <a:alpha val="100000"/>
                  </a:srgbClr>
                </a:gs>
                <a:gs pos="100000">
                  <a:srgbClr val="3E9D81">
                    <a:alpha val="0"/>
                  </a:srgbClr>
                </a:gs>
              </a:gsLst>
              <a:lin ang="0"/>
            </a:gradFill>
          </p:spPr>
        </p:sp>
        <p:sp>
          <p:nvSpPr>
            <p:cNvPr name="TextBox 4" id="4"/>
            <p:cNvSpPr txBox="true"/>
            <p:nvPr/>
          </p:nvSpPr>
          <p:spPr>
            <a:xfrm>
              <a:off x="0" y="-28575"/>
              <a:ext cx="762445" cy="1295930"/>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10800000">
            <a:off x="15981082" y="8129484"/>
            <a:ext cx="2556436" cy="2157516"/>
            <a:chOff x="0" y="0"/>
            <a:chExt cx="673300" cy="568235"/>
          </a:xfrm>
        </p:grpSpPr>
        <p:sp>
          <p:nvSpPr>
            <p:cNvPr name="Freeform 6" id="6"/>
            <p:cNvSpPr/>
            <p:nvPr/>
          </p:nvSpPr>
          <p:spPr>
            <a:xfrm flipH="false" flipV="false" rot="0">
              <a:off x="0" y="0"/>
              <a:ext cx="673300" cy="568235"/>
            </a:xfrm>
            <a:custGeom>
              <a:avLst/>
              <a:gdLst/>
              <a:ahLst/>
              <a:cxnLst/>
              <a:rect r="r" b="b" t="t" l="l"/>
              <a:pathLst>
                <a:path h="568235" w="673300">
                  <a:moveTo>
                    <a:pt x="0" y="0"/>
                  </a:moveTo>
                  <a:lnTo>
                    <a:pt x="673300" y="0"/>
                  </a:lnTo>
                  <a:lnTo>
                    <a:pt x="673300" y="568235"/>
                  </a:lnTo>
                  <a:lnTo>
                    <a:pt x="0" y="568235"/>
                  </a:lnTo>
                  <a:close/>
                </a:path>
              </a:pathLst>
            </a:custGeom>
            <a:gradFill rotWithShape="true">
              <a:gsLst>
                <a:gs pos="0">
                  <a:srgbClr val="3E9D81">
                    <a:alpha val="100000"/>
                  </a:srgbClr>
                </a:gs>
                <a:gs pos="100000">
                  <a:srgbClr val="3E9D81">
                    <a:alpha val="0"/>
                  </a:srgbClr>
                </a:gs>
              </a:gsLst>
              <a:lin ang="0"/>
            </a:gradFill>
          </p:spPr>
        </p:sp>
        <p:sp>
          <p:nvSpPr>
            <p:cNvPr name="TextBox 7" id="7"/>
            <p:cNvSpPr txBox="true"/>
            <p:nvPr/>
          </p:nvSpPr>
          <p:spPr>
            <a:xfrm>
              <a:off x="0" y="-28575"/>
              <a:ext cx="673300" cy="596810"/>
            </a:xfrm>
            <a:prstGeom prst="rect">
              <a:avLst/>
            </a:prstGeom>
          </p:spPr>
          <p:txBody>
            <a:bodyPr anchor="ctr" rtlCol="false" tIns="50800" lIns="50800" bIns="50800" rIns="50800"/>
            <a:lstStyle/>
            <a:p>
              <a:pPr algn="ctr">
                <a:lnSpc>
                  <a:spcPts val="1960"/>
                </a:lnSpc>
              </a:pPr>
            </a:p>
          </p:txBody>
        </p:sp>
      </p:grpSp>
      <p:sp>
        <p:nvSpPr>
          <p:cNvPr name="Freeform 8" id="8"/>
          <p:cNvSpPr/>
          <p:nvPr/>
        </p:nvSpPr>
        <p:spPr>
          <a:xfrm flipH="false" flipV="false" rot="0">
            <a:off x="1936841" y="1601183"/>
            <a:ext cx="8760259" cy="2973666"/>
          </a:xfrm>
          <a:custGeom>
            <a:avLst/>
            <a:gdLst/>
            <a:ahLst/>
            <a:cxnLst/>
            <a:rect r="r" b="b" t="t" l="l"/>
            <a:pathLst>
              <a:path h="2973666" w="8760259">
                <a:moveTo>
                  <a:pt x="0" y="0"/>
                </a:moveTo>
                <a:lnTo>
                  <a:pt x="8760259" y="0"/>
                </a:lnTo>
                <a:lnTo>
                  <a:pt x="8760259" y="2973666"/>
                </a:lnTo>
                <a:lnTo>
                  <a:pt x="0" y="2973666"/>
                </a:lnTo>
                <a:lnTo>
                  <a:pt x="0" y="0"/>
                </a:lnTo>
                <a:close/>
              </a:path>
            </a:pathLst>
          </a:custGeom>
          <a:blipFill>
            <a:blip r:embed="rId2"/>
            <a:stretch>
              <a:fillRect l="0" t="0" r="0" b="0"/>
            </a:stretch>
          </a:blipFill>
        </p:spPr>
      </p:sp>
      <p:sp>
        <p:nvSpPr>
          <p:cNvPr name="Freeform 9" id="9"/>
          <p:cNvSpPr/>
          <p:nvPr/>
        </p:nvSpPr>
        <p:spPr>
          <a:xfrm flipH="false" flipV="false" rot="3860216">
            <a:off x="9999135" y="3515509"/>
            <a:ext cx="2890514" cy="1329060"/>
          </a:xfrm>
          <a:custGeom>
            <a:avLst/>
            <a:gdLst/>
            <a:ahLst/>
            <a:cxnLst/>
            <a:rect r="r" b="b" t="t" l="l"/>
            <a:pathLst>
              <a:path h="1329060" w="2890514">
                <a:moveTo>
                  <a:pt x="0" y="0"/>
                </a:moveTo>
                <a:lnTo>
                  <a:pt x="2890514" y="0"/>
                </a:lnTo>
                <a:lnTo>
                  <a:pt x="2890514" y="1329060"/>
                </a:lnTo>
                <a:lnTo>
                  <a:pt x="0" y="13290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8202018" y="5478585"/>
            <a:ext cx="8134438" cy="2821305"/>
          </a:xfrm>
          <a:prstGeom prst="rect">
            <a:avLst/>
          </a:prstGeom>
        </p:spPr>
        <p:txBody>
          <a:bodyPr anchor="t" rtlCol="false" tIns="0" lIns="0" bIns="0" rIns="0">
            <a:spAutoFit/>
          </a:bodyPr>
          <a:lstStyle/>
          <a:p>
            <a:pPr algn="just">
              <a:lnSpc>
                <a:spcPts val="2519"/>
              </a:lnSpc>
              <a:spcBef>
                <a:spcPct val="0"/>
              </a:spcBef>
            </a:pPr>
            <a:r>
              <a:rPr lang="en-US" sz="1799">
                <a:solidFill>
                  <a:srgbClr val="FFFFFF"/>
                </a:solidFill>
                <a:latin typeface="Open Sauce Light"/>
                <a:ea typeface="Open Sauce Light"/>
                <a:cs typeface="Open Sauce Light"/>
                <a:sym typeface="Open Sauce Light"/>
              </a:rPr>
              <a:t>Esta función representa el procesamiento de normalización de texto (FP2), diseñada para garantizar la uniformidad estética del reporte de salida. Mediante una cadena de transformaciones puras, la función convierte los nombres de los dramas a mayúsculas y elimina cualquier inconsistencia en los espacios en blanco. Posteriormente, aplica una lógica de control de longitud que recorta o rellena el texto basándose en las constantes predefinidas, asegurando que todos los registros en el archivo results.txt estén perfectamente alineados y estandarizados, independientemente de la longitud original de los datos en el CSV.</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1028700"/>
            <a:ext cx="16230600" cy="3146795"/>
            <a:chOff x="0" y="0"/>
            <a:chExt cx="2696887" cy="522873"/>
          </a:xfrm>
        </p:grpSpPr>
        <p:sp>
          <p:nvSpPr>
            <p:cNvPr name="Freeform 4" id="4"/>
            <p:cNvSpPr/>
            <p:nvPr/>
          </p:nvSpPr>
          <p:spPr>
            <a:xfrm flipH="false" flipV="false" rot="0">
              <a:off x="0" y="0"/>
              <a:ext cx="2696887" cy="522873"/>
            </a:xfrm>
            <a:custGeom>
              <a:avLst/>
              <a:gdLst/>
              <a:ahLst/>
              <a:cxnLst/>
              <a:rect r="r" b="b" t="t" l="l"/>
              <a:pathLst>
                <a:path h="522873" w="2696887">
                  <a:moveTo>
                    <a:pt x="2696887" y="24327"/>
                  </a:moveTo>
                  <a:lnTo>
                    <a:pt x="2696887" y="498546"/>
                  </a:lnTo>
                  <a:cubicBezTo>
                    <a:pt x="2696887" y="511981"/>
                    <a:pt x="2685995" y="522873"/>
                    <a:pt x="2672560" y="522873"/>
                  </a:cubicBezTo>
                  <a:lnTo>
                    <a:pt x="24327" y="522873"/>
                  </a:lnTo>
                  <a:cubicBezTo>
                    <a:pt x="10891" y="522873"/>
                    <a:pt x="0" y="511981"/>
                    <a:pt x="0" y="498546"/>
                  </a:cubicBezTo>
                  <a:lnTo>
                    <a:pt x="0" y="24327"/>
                  </a:lnTo>
                  <a:cubicBezTo>
                    <a:pt x="0" y="10891"/>
                    <a:pt x="10891" y="0"/>
                    <a:pt x="24327" y="0"/>
                  </a:cubicBezTo>
                  <a:lnTo>
                    <a:pt x="2672560" y="0"/>
                  </a:lnTo>
                  <a:cubicBezTo>
                    <a:pt x="2685995" y="0"/>
                    <a:pt x="2696887" y="10891"/>
                    <a:pt x="2696887" y="24327"/>
                  </a:cubicBezTo>
                  <a:close/>
                </a:path>
              </a:pathLst>
            </a:custGeom>
            <a:solidFill>
              <a:srgbClr val="000000">
                <a:alpha val="0"/>
              </a:srgbClr>
            </a:solidFill>
            <a:ln w="19050" cap="rnd">
              <a:solidFill>
                <a:srgbClr val="8AB2A6"/>
              </a:solidFill>
              <a:prstDash val="solid"/>
              <a:round/>
            </a:ln>
          </p:spPr>
        </p:sp>
        <p:sp>
          <p:nvSpPr>
            <p:cNvPr name="TextBox 5" id="5"/>
            <p:cNvSpPr txBox="true"/>
            <p:nvPr/>
          </p:nvSpPr>
          <p:spPr>
            <a:xfrm>
              <a:off x="0" y="0"/>
              <a:ext cx="2696887" cy="522873"/>
            </a:xfrm>
            <a:prstGeom prst="rect">
              <a:avLst/>
            </a:prstGeom>
          </p:spPr>
          <p:txBody>
            <a:bodyPr anchor="ctr" rtlCol="false" tIns="50800" lIns="50800" bIns="50800" rIns="50800"/>
            <a:lstStyle/>
            <a:p>
              <a:pPr algn="ctr">
                <a:lnSpc>
                  <a:spcPts val="1680"/>
                </a:lnSpc>
              </a:pPr>
            </a:p>
          </p:txBody>
        </p:sp>
      </p:grpSp>
      <p:grpSp>
        <p:nvGrpSpPr>
          <p:cNvPr name="Group 6" id="6"/>
          <p:cNvGrpSpPr/>
          <p:nvPr/>
        </p:nvGrpSpPr>
        <p:grpSpPr>
          <a:xfrm rot="0">
            <a:off x="1028700" y="1523340"/>
            <a:ext cx="2556436" cy="2157516"/>
            <a:chOff x="0" y="0"/>
            <a:chExt cx="673300" cy="568235"/>
          </a:xfrm>
        </p:grpSpPr>
        <p:sp>
          <p:nvSpPr>
            <p:cNvPr name="Freeform 7" id="7"/>
            <p:cNvSpPr/>
            <p:nvPr/>
          </p:nvSpPr>
          <p:spPr>
            <a:xfrm flipH="false" flipV="false" rot="0">
              <a:off x="0" y="0"/>
              <a:ext cx="673300" cy="568235"/>
            </a:xfrm>
            <a:custGeom>
              <a:avLst/>
              <a:gdLst/>
              <a:ahLst/>
              <a:cxnLst/>
              <a:rect r="r" b="b" t="t" l="l"/>
              <a:pathLst>
                <a:path h="568235" w="673300">
                  <a:moveTo>
                    <a:pt x="0" y="0"/>
                  </a:moveTo>
                  <a:lnTo>
                    <a:pt x="673300" y="0"/>
                  </a:lnTo>
                  <a:lnTo>
                    <a:pt x="673300" y="568235"/>
                  </a:lnTo>
                  <a:lnTo>
                    <a:pt x="0" y="568235"/>
                  </a:lnTo>
                  <a:close/>
                </a:path>
              </a:pathLst>
            </a:custGeom>
            <a:gradFill rotWithShape="true">
              <a:gsLst>
                <a:gs pos="0">
                  <a:srgbClr val="3E9D81">
                    <a:alpha val="100000"/>
                  </a:srgbClr>
                </a:gs>
                <a:gs pos="100000">
                  <a:srgbClr val="3E9D81">
                    <a:alpha val="0"/>
                  </a:srgbClr>
                </a:gs>
              </a:gsLst>
              <a:lin ang="0"/>
            </a:gradFill>
          </p:spPr>
        </p:sp>
        <p:sp>
          <p:nvSpPr>
            <p:cNvPr name="TextBox 8" id="8"/>
            <p:cNvSpPr txBox="true"/>
            <p:nvPr/>
          </p:nvSpPr>
          <p:spPr>
            <a:xfrm>
              <a:off x="0" y="-28575"/>
              <a:ext cx="673300" cy="596810"/>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3221732" y="1739157"/>
            <a:ext cx="11850772" cy="2125931"/>
          </a:xfrm>
          <a:prstGeom prst="rect">
            <a:avLst/>
          </a:prstGeom>
        </p:spPr>
        <p:txBody>
          <a:bodyPr anchor="t" rtlCol="false" tIns="0" lIns="0" bIns="0" rIns="0">
            <a:spAutoFit/>
          </a:bodyPr>
          <a:lstStyle/>
          <a:p>
            <a:pPr algn="ctr">
              <a:lnSpc>
                <a:spcPts val="15870"/>
              </a:lnSpc>
            </a:pPr>
            <a:r>
              <a:rPr lang="en-US" sz="16706" i="true" spc="-668">
                <a:solidFill>
                  <a:srgbClr val="8AB2A6"/>
                </a:solidFill>
                <a:latin typeface="Anton Italics"/>
                <a:ea typeface="Anton Italics"/>
                <a:cs typeface="Anton Italics"/>
                <a:sym typeface="Anton Italics"/>
              </a:rPr>
              <a:t>GRACIAS</a:t>
            </a:r>
          </a:p>
        </p:txBody>
      </p:sp>
      <p:sp>
        <p:nvSpPr>
          <p:cNvPr name="Freeform 10" id="10"/>
          <p:cNvSpPr/>
          <p:nvPr/>
        </p:nvSpPr>
        <p:spPr>
          <a:xfrm flipH="false" flipV="false" rot="0">
            <a:off x="3221732" y="2238693"/>
            <a:ext cx="726809" cy="726809"/>
          </a:xfrm>
          <a:custGeom>
            <a:avLst/>
            <a:gdLst/>
            <a:ahLst/>
            <a:cxnLst/>
            <a:rect r="r" b="b" t="t" l="l"/>
            <a:pathLst>
              <a:path h="726809" w="726809">
                <a:moveTo>
                  <a:pt x="0" y="0"/>
                </a:moveTo>
                <a:lnTo>
                  <a:pt x="726808" y="0"/>
                </a:lnTo>
                <a:lnTo>
                  <a:pt x="726808"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10800000">
            <a:off x="14675165" y="1523340"/>
            <a:ext cx="2556436" cy="2157516"/>
            <a:chOff x="0" y="0"/>
            <a:chExt cx="673300" cy="568235"/>
          </a:xfrm>
        </p:grpSpPr>
        <p:sp>
          <p:nvSpPr>
            <p:cNvPr name="Freeform 12" id="12"/>
            <p:cNvSpPr/>
            <p:nvPr/>
          </p:nvSpPr>
          <p:spPr>
            <a:xfrm flipH="false" flipV="false" rot="0">
              <a:off x="0" y="0"/>
              <a:ext cx="673300" cy="568235"/>
            </a:xfrm>
            <a:custGeom>
              <a:avLst/>
              <a:gdLst/>
              <a:ahLst/>
              <a:cxnLst/>
              <a:rect r="r" b="b" t="t" l="l"/>
              <a:pathLst>
                <a:path h="568235" w="673300">
                  <a:moveTo>
                    <a:pt x="0" y="0"/>
                  </a:moveTo>
                  <a:lnTo>
                    <a:pt x="673300" y="0"/>
                  </a:lnTo>
                  <a:lnTo>
                    <a:pt x="673300" y="568235"/>
                  </a:lnTo>
                  <a:lnTo>
                    <a:pt x="0" y="568235"/>
                  </a:lnTo>
                  <a:close/>
                </a:path>
              </a:pathLst>
            </a:custGeom>
            <a:gradFill rotWithShape="true">
              <a:gsLst>
                <a:gs pos="0">
                  <a:srgbClr val="3E9D81">
                    <a:alpha val="100000"/>
                  </a:srgbClr>
                </a:gs>
                <a:gs pos="100000">
                  <a:srgbClr val="3E9D81">
                    <a:alpha val="0"/>
                  </a:srgbClr>
                </a:gs>
              </a:gsLst>
              <a:lin ang="0"/>
            </a:gradFill>
          </p:spPr>
        </p:sp>
        <p:sp>
          <p:nvSpPr>
            <p:cNvPr name="TextBox 13" id="13"/>
            <p:cNvSpPr txBox="true"/>
            <p:nvPr/>
          </p:nvSpPr>
          <p:spPr>
            <a:xfrm>
              <a:off x="0" y="-28575"/>
              <a:ext cx="673300" cy="596810"/>
            </a:xfrm>
            <a:prstGeom prst="rect">
              <a:avLst/>
            </a:prstGeom>
          </p:spPr>
          <p:txBody>
            <a:bodyPr anchor="ctr" rtlCol="false" tIns="50800" lIns="50800" bIns="50800" rIns="50800"/>
            <a:lstStyle/>
            <a:p>
              <a:pPr algn="ctr">
                <a:lnSpc>
                  <a:spcPts val="1960"/>
                </a:lnSpc>
              </a:pPr>
            </a:p>
          </p:txBody>
        </p:sp>
      </p:grpSp>
      <p:sp>
        <p:nvSpPr>
          <p:cNvPr name="Freeform 14" id="14"/>
          <p:cNvSpPr/>
          <p:nvPr/>
        </p:nvSpPr>
        <p:spPr>
          <a:xfrm flipH="true" flipV="false" rot="0">
            <a:off x="14345694" y="2238693"/>
            <a:ext cx="726809" cy="726809"/>
          </a:xfrm>
          <a:custGeom>
            <a:avLst/>
            <a:gdLst/>
            <a:ahLst/>
            <a:cxnLst/>
            <a:rect r="r" b="b" t="t" l="l"/>
            <a:pathLst>
              <a:path h="726809" w="726809">
                <a:moveTo>
                  <a:pt x="726809" y="0"/>
                </a:moveTo>
                <a:lnTo>
                  <a:pt x="0" y="0"/>
                </a:lnTo>
                <a:lnTo>
                  <a:pt x="0" y="726809"/>
                </a:lnTo>
                <a:lnTo>
                  <a:pt x="726809" y="726809"/>
                </a:lnTo>
                <a:lnTo>
                  <a:pt x="72680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6812485" y="4873899"/>
            <a:ext cx="4663030" cy="4567866"/>
          </a:xfrm>
          <a:custGeom>
            <a:avLst/>
            <a:gdLst/>
            <a:ahLst/>
            <a:cxnLst/>
            <a:rect r="r" b="b" t="t" l="l"/>
            <a:pathLst>
              <a:path h="4567866" w="4663030">
                <a:moveTo>
                  <a:pt x="0" y="0"/>
                </a:moveTo>
                <a:lnTo>
                  <a:pt x="4663030" y="0"/>
                </a:lnTo>
                <a:lnTo>
                  <a:pt x="4663030" y="4567866"/>
                </a:lnTo>
                <a:lnTo>
                  <a:pt x="0" y="4567866"/>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DAG-6TbXO3A</dc:identifier>
  <dcterms:modified xsi:type="dcterms:W3CDTF">2011-08-01T06:04:30Z</dcterms:modified>
  <cp:revision>1</cp:revision>
  <dc:title>Black and Teal Modern Web Developer Presentation</dc:title>
</cp:coreProperties>
</file>